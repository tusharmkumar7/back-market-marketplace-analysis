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34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Total Revenue by Category (€)</a:t>
            </a:r>
          </a:p>
        </c:rich>
      </c:tx>
      <c:overlay val="0"/>
    </c:title>
    <c:autoTitleDeleted val="0"/>
    <c:plotArea>
      <c:layout/>
      <c:barChart>
        <c:barDir val="bar"/>
        <c:grouping val="clustered"/>
        <c:varyColors val="0"/>
        <c:ser>
          <c:idx val="0"/>
          <c:order val="0"/>
          <c:tx>
            <c:strRef>
              <c:f>Sheet1!$B$1</c:f>
              <c:strCache>
                <c:ptCount val="1"/>
                <c:pt idx="0">
                  <c:v>Revenue (€)</c:v>
                </c:pt>
              </c:strCache>
            </c:strRef>
          </c:tx>
          <c:spPr>
            <a:solidFill>
              <a:srgbClr val="00B67A"/>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Headphones</c:v>
                </c:pt>
                <c:pt idx="1">
                  <c:v>Smartwatches</c:v>
                </c:pt>
                <c:pt idx="2">
                  <c:v>Game Consoles</c:v>
                </c:pt>
                <c:pt idx="3">
                  <c:v>Tablets</c:v>
                </c:pt>
                <c:pt idx="4">
                  <c:v>Smartphones</c:v>
                </c:pt>
                <c:pt idx="5">
                  <c:v>Laptops</c:v>
                </c:pt>
              </c:strCache>
            </c:strRef>
          </c:cat>
          <c:val>
            <c:numRef>
              <c:f>Sheet1!$B$2:$B$7</c:f>
              <c:numCache>
                <c:formatCode>General</c:formatCode>
                <c:ptCount val="6"/>
                <c:pt idx="0">
                  <c:v>10039</c:v>
                </c:pt>
                <c:pt idx="1">
                  <c:v>13846</c:v>
                </c:pt>
                <c:pt idx="2">
                  <c:v>19065</c:v>
                </c:pt>
                <c:pt idx="3">
                  <c:v>22725</c:v>
                </c:pt>
                <c:pt idx="4">
                  <c:v>63223</c:v>
                </c:pt>
                <c:pt idx="5">
                  <c:v>71063</c:v>
                </c:pt>
              </c:numCache>
            </c:numRef>
          </c:val>
          <c:extLst>
            <c:ext xmlns:c16="http://schemas.microsoft.com/office/drawing/2014/chart" uri="{C3380CC4-5D6E-409C-BE32-E72D297353CC}">
              <c16:uniqueId val="{00000000-6771-4A11-AACC-1A8AECB522A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Orders by Customer Country</a:t>
            </a:r>
          </a:p>
        </c:rich>
      </c:tx>
      <c:overlay val="0"/>
    </c:title>
    <c:autoTitleDeleted val="0"/>
    <c:plotArea>
      <c:layout/>
      <c:barChart>
        <c:barDir val="bar"/>
        <c:grouping val="clustered"/>
        <c:varyColors val="0"/>
        <c:ser>
          <c:idx val="0"/>
          <c:order val="0"/>
          <c:tx>
            <c:strRef>
              <c:f>Sheet1!$B$1</c:f>
              <c:strCache>
                <c:ptCount val="1"/>
                <c:pt idx="0">
                  <c:v>Total Orders</c:v>
                </c:pt>
              </c:strCache>
            </c:strRef>
          </c:tx>
          <c:spPr>
            <a:solidFill>
              <a:srgbClr val="00B67A"/>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France</c:v>
                </c:pt>
                <c:pt idx="1">
                  <c:v>Portugal</c:v>
                </c:pt>
                <c:pt idx="2">
                  <c:v>USA</c:v>
                </c:pt>
                <c:pt idx="3">
                  <c:v>Italy</c:v>
                </c:pt>
                <c:pt idx="4">
                  <c:v>Spain</c:v>
                </c:pt>
                <c:pt idx="5">
                  <c:v>UK</c:v>
                </c:pt>
                <c:pt idx="6">
                  <c:v>Netherlands</c:v>
                </c:pt>
                <c:pt idx="7">
                  <c:v>Japan</c:v>
                </c:pt>
                <c:pt idx="8">
                  <c:v>Germany</c:v>
                </c:pt>
                <c:pt idx="9">
                  <c:v>Belgium</c:v>
                </c:pt>
              </c:strCache>
            </c:strRef>
          </c:cat>
          <c:val>
            <c:numRef>
              <c:f>Sheet1!$B$2:$B$11</c:f>
              <c:numCache>
                <c:formatCode>General</c:formatCode>
                <c:ptCount val="10"/>
                <c:pt idx="0">
                  <c:v>44</c:v>
                </c:pt>
                <c:pt idx="1">
                  <c:v>45</c:v>
                </c:pt>
                <c:pt idx="2">
                  <c:v>46</c:v>
                </c:pt>
                <c:pt idx="3">
                  <c:v>46</c:v>
                </c:pt>
                <c:pt idx="4">
                  <c:v>48</c:v>
                </c:pt>
                <c:pt idx="5">
                  <c:v>49</c:v>
                </c:pt>
                <c:pt idx="6">
                  <c:v>49</c:v>
                </c:pt>
                <c:pt idx="7">
                  <c:v>53</c:v>
                </c:pt>
                <c:pt idx="8">
                  <c:v>55</c:v>
                </c:pt>
                <c:pt idx="9">
                  <c:v>58</c:v>
                </c:pt>
              </c:numCache>
            </c:numRef>
          </c:val>
          <c:extLst>
            <c:ext xmlns:c16="http://schemas.microsoft.com/office/drawing/2014/chart" uri="{C3380CC4-5D6E-409C-BE32-E72D297353CC}">
              <c16:uniqueId val="{00000000-EE60-465D-8F90-FDE85FAE0AA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Returns by Seller (Top 10)</a:t>
            </a:r>
          </a:p>
        </c:rich>
      </c:tx>
      <c:overlay val="0"/>
    </c:title>
    <c:autoTitleDeleted val="0"/>
    <c:plotArea>
      <c:layout/>
      <c:barChart>
        <c:barDir val="bar"/>
        <c:grouping val="clustered"/>
        <c:varyColors val="0"/>
        <c:ser>
          <c:idx val="0"/>
          <c:order val="0"/>
          <c:tx>
            <c:strRef>
              <c:f>Sheet1!$B$1</c:f>
              <c:strCache>
                <c:ptCount val="1"/>
                <c:pt idx="0">
                  <c:v>Total Returns</c:v>
                </c:pt>
              </c:strCache>
            </c:strRef>
          </c:tx>
          <c:spPr>
            <a:solidFill>
              <a:srgbClr val="C0392B"/>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TechCycle_PO_39</c:v>
                </c:pt>
                <c:pt idx="1">
                  <c:v>SmartRefurb_IT_34</c:v>
                </c:pt>
                <c:pt idx="2">
                  <c:v>ReStore_BE_18</c:v>
                </c:pt>
                <c:pt idx="3">
                  <c:v>GadgetBack_BE_40</c:v>
                </c:pt>
                <c:pt idx="4">
                  <c:v>EcoTech_US_35</c:v>
                </c:pt>
                <c:pt idx="5">
                  <c:v>EcoTech_JA_20</c:v>
                </c:pt>
                <c:pt idx="6">
                  <c:v>CircuitSave_UK_36</c:v>
                </c:pt>
                <c:pt idx="7">
                  <c:v>ChipSaver_JA_30</c:v>
                </c:pt>
                <c:pt idx="8">
                  <c:v>GadgetBack_JA_10</c:v>
                </c:pt>
                <c:pt idx="9">
                  <c:v>ChipSaver_US_15</c:v>
                </c:pt>
              </c:strCache>
            </c:strRef>
          </c:cat>
          <c:val>
            <c:numRef>
              <c:f>Sheet1!$B$2:$B$11</c:f>
              <c:numCache>
                <c:formatCode>General</c:formatCode>
                <c:ptCount val="10"/>
                <c:pt idx="0">
                  <c:v>3</c:v>
                </c:pt>
                <c:pt idx="1">
                  <c:v>3</c:v>
                </c:pt>
                <c:pt idx="2">
                  <c:v>3</c:v>
                </c:pt>
                <c:pt idx="3">
                  <c:v>3</c:v>
                </c:pt>
                <c:pt idx="4">
                  <c:v>3</c:v>
                </c:pt>
                <c:pt idx="5">
                  <c:v>3</c:v>
                </c:pt>
                <c:pt idx="6">
                  <c:v>3</c:v>
                </c:pt>
                <c:pt idx="7">
                  <c:v>3</c:v>
                </c:pt>
                <c:pt idx="8">
                  <c:v>4</c:v>
                </c:pt>
                <c:pt idx="9">
                  <c:v>4</c:v>
                </c:pt>
              </c:numCache>
            </c:numRef>
          </c:val>
          <c:extLst>
            <c:ext xmlns:c16="http://schemas.microsoft.com/office/drawing/2014/chart" uri="{C3380CC4-5D6E-409C-BE32-E72D297353CC}">
              <c16:uniqueId val="{00000000-2865-4D38-8DFE-FA2960392AE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Returns by Product Category</a:t>
            </a:r>
          </a:p>
        </c:rich>
      </c:tx>
      <c:overlay val="0"/>
    </c:title>
    <c:autoTitleDeleted val="0"/>
    <c:plotArea>
      <c:layout/>
      <c:barChart>
        <c:barDir val="bar"/>
        <c:grouping val="clustered"/>
        <c:varyColors val="0"/>
        <c:ser>
          <c:idx val="0"/>
          <c:order val="0"/>
          <c:tx>
            <c:strRef>
              <c:f>Sheet1!$B$1</c:f>
              <c:strCache>
                <c:ptCount val="1"/>
                <c:pt idx="0">
                  <c:v>Total Returns</c:v>
                </c:pt>
              </c:strCache>
            </c:strRef>
          </c:tx>
          <c:spPr>
            <a:solidFill>
              <a:srgbClr val="E07B39"/>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Smartwatches</c:v>
                </c:pt>
                <c:pt idx="1">
                  <c:v>Game Consoles</c:v>
                </c:pt>
                <c:pt idx="2">
                  <c:v>Headphones</c:v>
                </c:pt>
                <c:pt idx="3">
                  <c:v>Tablets</c:v>
                </c:pt>
                <c:pt idx="4">
                  <c:v>Smartphones</c:v>
                </c:pt>
                <c:pt idx="5">
                  <c:v>Laptops</c:v>
                </c:pt>
              </c:strCache>
            </c:strRef>
          </c:cat>
          <c:val>
            <c:numRef>
              <c:f>Sheet1!$B$2:$B$7</c:f>
              <c:numCache>
                <c:formatCode>General</c:formatCode>
                <c:ptCount val="6"/>
                <c:pt idx="0">
                  <c:v>8</c:v>
                </c:pt>
                <c:pt idx="1">
                  <c:v>9</c:v>
                </c:pt>
                <c:pt idx="2">
                  <c:v>10</c:v>
                </c:pt>
                <c:pt idx="3">
                  <c:v>10</c:v>
                </c:pt>
                <c:pt idx="4">
                  <c:v>22</c:v>
                </c:pt>
                <c:pt idx="5">
                  <c:v>24</c:v>
                </c:pt>
              </c:numCache>
            </c:numRef>
          </c:val>
          <c:extLst>
            <c:ext xmlns:c16="http://schemas.microsoft.com/office/drawing/2014/chart" uri="{C3380CC4-5D6E-409C-BE32-E72D297353CC}">
              <c16:uniqueId val="{00000000-FE23-4679-96A3-4859E381BD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Completed Orders by Seller (Top 9)</a:t>
            </a:r>
          </a:p>
        </c:rich>
      </c:tx>
      <c:overlay val="0"/>
    </c:title>
    <c:autoTitleDeleted val="0"/>
    <c:plotArea>
      <c:layout/>
      <c:barChart>
        <c:barDir val="bar"/>
        <c:grouping val="clustered"/>
        <c:varyColors val="0"/>
        <c:ser>
          <c:idx val="0"/>
          <c:order val="0"/>
          <c:tx>
            <c:strRef>
              <c:f>Sheet1!$B$1</c:f>
              <c:strCache>
                <c:ptCount val="1"/>
                <c:pt idx="0">
                  <c:v>Completed Orders</c:v>
                </c:pt>
              </c:strCache>
            </c:strRef>
          </c:tx>
          <c:spPr>
            <a:solidFill>
              <a:srgbClr val="00B67A"/>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ReStore_SP_03</c:v>
                </c:pt>
                <c:pt idx="1">
                  <c:v>NextLife_SP_43</c:v>
                </c:pt>
                <c:pt idx="2">
                  <c:v>CircuitSave_UK_06</c:v>
                </c:pt>
                <c:pt idx="3">
                  <c:v>EcoTech_JA_20</c:v>
                </c:pt>
                <c:pt idx="4">
                  <c:v>ReStore_BE_48</c:v>
                </c:pt>
                <c:pt idx="5">
                  <c:v>CircuitSave_FR_21</c:v>
                </c:pt>
                <c:pt idx="6">
                  <c:v>PixelRefurb_IT_44</c:v>
                </c:pt>
                <c:pt idx="7">
                  <c:v>BlueTech_GE_42</c:v>
                </c:pt>
                <c:pt idx="8">
                  <c:v>RenewTech_FR_41</c:v>
                </c:pt>
              </c:strCache>
            </c:strRef>
          </c:cat>
          <c:val>
            <c:numRef>
              <c:f>Sheet1!$B$2:$B$10</c:f>
              <c:numCache>
                <c:formatCode>General</c:formatCode>
                <c:ptCount val="9"/>
                <c:pt idx="0">
                  <c:v>11</c:v>
                </c:pt>
                <c:pt idx="1">
                  <c:v>11</c:v>
                </c:pt>
                <c:pt idx="2">
                  <c:v>12</c:v>
                </c:pt>
                <c:pt idx="3">
                  <c:v>12</c:v>
                </c:pt>
                <c:pt idx="4">
                  <c:v>12</c:v>
                </c:pt>
                <c:pt idx="5">
                  <c:v>13</c:v>
                </c:pt>
                <c:pt idx="6">
                  <c:v>13</c:v>
                </c:pt>
                <c:pt idx="7">
                  <c:v>13</c:v>
                </c:pt>
                <c:pt idx="8">
                  <c:v>14</c:v>
                </c:pt>
              </c:numCache>
            </c:numRef>
          </c:val>
          <c:extLst>
            <c:ext xmlns:c16="http://schemas.microsoft.com/office/drawing/2014/chart" uri="{C3380CC4-5D6E-409C-BE32-E72D297353CC}">
              <c16:uniqueId val="{00000000-09BF-4071-8389-3B9F3E9AF2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909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67A"/>
          </a:solidFill>
          <a:ln w="12700">
            <a:solidFill>
              <a:srgbClr val="00B67A"/>
            </a:solidFill>
            <a:prstDash val="solid"/>
          </a:ln>
        </p:spPr>
        <p:txBody>
          <a:bodyPr/>
          <a:lstStyle/>
          <a:p>
            <a:endParaRPr lang="en-US"/>
          </a:p>
        </p:txBody>
      </p:sp>
      <p:sp>
        <p:nvSpPr>
          <p:cNvPr id="3" name="Shape 1"/>
          <p:cNvSpPr/>
          <p:nvPr/>
        </p:nvSpPr>
        <p:spPr>
          <a:xfrm>
            <a:off x="411480" y="365760"/>
            <a:ext cx="2011680" cy="502920"/>
          </a:xfrm>
          <a:prstGeom prst="rect">
            <a:avLst/>
          </a:prstGeom>
          <a:solidFill>
            <a:srgbClr val="00B67A"/>
          </a:solidFill>
          <a:ln w="12700">
            <a:solidFill>
              <a:srgbClr val="00B67A"/>
            </a:solidFill>
            <a:prstDash val="solid"/>
          </a:ln>
        </p:spPr>
        <p:txBody>
          <a:bodyPr/>
          <a:lstStyle/>
          <a:p>
            <a:endParaRPr lang="en-US"/>
          </a:p>
        </p:txBody>
      </p:sp>
      <p:sp>
        <p:nvSpPr>
          <p:cNvPr id="4" name="Text 2"/>
          <p:cNvSpPr/>
          <p:nvPr/>
        </p:nvSpPr>
        <p:spPr>
          <a:xfrm>
            <a:off x="411480" y="365760"/>
            <a:ext cx="2011680" cy="502920"/>
          </a:xfrm>
          <a:prstGeom prst="rect">
            <a:avLst/>
          </a:prstGeom>
          <a:noFill/>
          <a:ln/>
        </p:spPr>
        <p:txBody>
          <a:bodyPr wrap="square" lIns="0" tIns="0" rIns="0" bIns="0" rtlCol="0" anchor="ctr"/>
          <a:lstStyle/>
          <a:p>
            <a:pPr marL="0" indent="0" algn="ctr">
              <a:buNone/>
            </a:pPr>
            <a:r>
              <a:rPr lang="en-US" sz="1100" b="1" dirty="0">
                <a:solidFill>
                  <a:srgbClr val="FFFFFF"/>
                </a:solidFill>
              </a:rPr>
              <a:t>BACK MARKET</a:t>
            </a:r>
            <a:endParaRPr lang="en-US" sz="1100" dirty="0"/>
          </a:p>
        </p:txBody>
      </p:sp>
      <p:sp>
        <p:nvSpPr>
          <p:cNvPr id="5" name="Text 3"/>
          <p:cNvSpPr/>
          <p:nvPr/>
        </p:nvSpPr>
        <p:spPr>
          <a:xfrm>
            <a:off x="411480" y="1051560"/>
            <a:ext cx="7772400" cy="7772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Marketplace Performance</a:t>
            </a:r>
            <a:endParaRPr lang="en-US" sz="4000" dirty="0"/>
          </a:p>
        </p:txBody>
      </p:sp>
      <p:sp>
        <p:nvSpPr>
          <p:cNvPr id="6" name="Text 4"/>
          <p:cNvSpPr/>
          <p:nvPr/>
        </p:nvSpPr>
        <p:spPr>
          <a:xfrm>
            <a:off x="411480" y="1783080"/>
            <a:ext cx="7772400" cy="777240"/>
          </a:xfrm>
          <a:prstGeom prst="rect">
            <a:avLst/>
          </a:prstGeom>
          <a:noFill/>
          <a:ln/>
        </p:spPr>
        <p:txBody>
          <a:bodyPr wrap="square" rtlCol="0" anchor="ctr"/>
          <a:lstStyle/>
          <a:p>
            <a:pPr marL="0" indent="0">
              <a:buNone/>
            </a:pPr>
            <a:r>
              <a:rPr lang="en-US" sz="4000" b="1" dirty="0">
                <a:solidFill>
                  <a:srgbClr val="00B67A"/>
                </a:solidFill>
                <a:latin typeface="Calibri" pitchFamily="34" charset="0"/>
                <a:ea typeface="Calibri" pitchFamily="34" charset="-122"/>
                <a:cs typeface="Calibri" pitchFamily="34" charset="-120"/>
              </a:rPr>
              <a:t>Analysis</a:t>
            </a:r>
            <a:endParaRPr lang="en-US" sz="4000" dirty="0"/>
          </a:p>
        </p:txBody>
      </p:sp>
      <p:sp>
        <p:nvSpPr>
          <p:cNvPr id="7" name="Text 5"/>
          <p:cNvSpPr/>
          <p:nvPr/>
        </p:nvSpPr>
        <p:spPr>
          <a:xfrm>
            <a:off x="411480" y="2697480"/>
            <a:ext cx="7315200" cy="365760"/>
          </a:xfrm>
          <a:prstGeom prst="rect">
            <a:avLst/>
          </a:prstGeom>
          <a:noFill/>
          <a:ln/>
        </p:spPr>
        <p:txBody>
          <a:bodyPr wrap="square" rtlCol="0" anchor="ctr"/>
          <a:lstStyle/>
          <a:p>
            <a:pPr marL="0" indent="0">
              <a:buNone/>
            </a:pPr>
            <a:r>
              <a:rPr lang="en-US" sz="1600" dirty="0">
                <a:solidFill>
                  <a:srgbClr val="A0AEC0"/>
                </a:solidFill>
                <a:latin typeface="Calibri" pitchFamily="34" charset="0"/>
                <a:ea typeface="Calibri" pitchFamily="34" charset="-122"/>
                <a:cs typeface="Calibri" pitchFamily="34" charset="-120"/>
              </a:rPr>
              <a:t>Business Data Analyst Portfolio Project</a:t>
            </a:r>
            <a:endParaRPr lang="en-US" sz="1600" dirty="0"/>
          </a:p>
        </p:txBody>
      </p:sp>
      <p:sp>
        <p:nvSpPr>
          <p:cNvPr id="8" name="Shape 6"/>
          <p:cNvSpPr/>
          <p:nvPr/>
        </p:nvSpPr>
        <p:spPr>
          <a:xfrm>
            <a:off x="411480" y="3200400"/>
            <a:ext cx="3200400" cy="36576"/>
          </a:xfrm>
          <a:prstGeom prst="rect">
            <a:avLst/>
          </a:prstGeom>
          <a:solidFill>
            <a:srgbClr val="00B67A"/>
          </a:solidFill>
          <a:ln w="12700">
            <a:solidFill>
              <a:srgbClr val="00B67A"/>
            </a:solidFill>
            <a:prstDash val="solid"/>
          </a:ln>
        </p:spPr>
        <p:txBody>
          <a:bodyPr/>
          <a:lstStyle/>
          <a:p>
            <a:endParaRPr lang="en-US"/>
          </a:p>
        </p:txBody>
      </p:sp>
      <p:sp>
        <p:nvSpPr>
          <p:cNvPr id="9" name="Text 7"/>
          <p:cNvSpPr/>
          <p:nvPr/>
        </p:nvSpPr>
        <p:spPr>
          <a:xfrm>
            <a:off x="411480" y="3383280"/>
            <a:ext cx="7315200" cy="320040"/>
          </a:xfrm>
          <a:prstGeom prst="rect">
            <a:avLst/>
          </a:prstGeom>
          <a:noFill/>
          <a:ln/>
        </p:spPr>
        <p:txBody>
          <a:bodyPr wrap="square" rtlCol="0" anchor="ctr"/>
          <a:lstStyle/>
          <a:p>
            <a:pPr marL="0" indent="0">
              <a:buNone/>
            </a:pPr>
            <a:r>
              <a:rPr lang="en-US" sz="1300" b="1" dirty="0">
                <a:solidFill>
                  <a:srgbClr val="00B67A"/>
                </a:solidFill>
                <a:latin typeface="Calibri" pitchFamily="34" charset="0"/>
                <a:ea typeface="Calibri" pitchFamily="34" charset="-122"/>
                <a:cs typeface="Calibri" pitchFamily="34" charset="-120"/>
              </a:rPr>
              <a:t>Dataset: </a:t>
            </a:r>
            <a:r>
              <a:rPr lang="en-US" sz="1300" dirty="0">
                <a:solidFill>
                  <a:srgbClr val="A0AEC0"/>
                </a:solidFill>
                <a:latin typeface="Calibri" pitchFamily="34" charset="0"/>
                <a:ea typeface="Calibri" pitchFamily="34" charset="-122"/>
                <a:cs typeface="Calibri" pitchFamily="34" charset="-120"/>
              </a:rPr>
              <a:t>60 Sellers  |  600 Orders  |  Jan 2023 - Dec 2025</a:t>
            </a:r>
            <a:endParaRPr lang="en-US" sz="1300" dirty="0"/>
          </a:p>
        </p:txBody>
      </p:sp>
      <p:sp>
        <p:nvSpPr>
          <p:cNvPr id="10" name="Text 8"/>
          <p:cNvSpPr/>
          <p:nvPr/>
        </p:nvSpPr>
        <p:spPr>
          <a:xfrm>
            <a:off x="411480" y="3749040"/>
            <a:ext cx="7315200" cy="320040"/>
          </a:xfrm>
          <a:prstGeom prst="rect">
            <a:avLst/>
          </a:prstGeom>
          <a:noFill/>
          <a:ln/>
        </p:spPr>
        <p:txBody>
          <a:bodyPr wrap="square" rtlCol="0" anchor="ctr"/>
          <a:lstStyle/>
          <a:p>
            <a:pPr marL="0" indent="0">
              <a:buNone/>
            </a:pPr>
            <a:r>
              <a:rPr lang="en-US" sz="1300" b="1" dirty="0">
                <a:solidFill>
                  <a:srgbClr val="00B67A"/>
                </a:solidFill>
                <a:latin typeface="Calibri" pitchFamily="34" charset="0"/>
                <a:ea typeface="Calibri" pitchFamily="34" charset="-122"/>
                <a:cs typeface="Calibri" pitchFamily="34" charset="-120"/>
              </a:rPr>
              <a:t>Tools: </a:t>
            </a:r>
            <a:r>
              <a:rPr lang="en-US" sz="1300" dirty="0">
                <a:solidFill>
                  <a:srgbClr val="A0AEC0"/>
                </a:solidFill>
                <a:latin typeface="Calibri" pitchFamily="34" charset="0"/>
                <a:ea typeface="Calibri" pitchFamily="34" charset="-122"/>
                <a:cs typeface="Calibri" pitchFamily="34" charset="-120"/>
              </a:rPr>
              <a:t>PostgreSQL  |  Excel  |  Power BI  |  PowerPoint</a:t>
            </a:r>
            <a:endParaRPr lang="en-US" sz="1300" dirty="0"/>
          </a:p>
        </p:txBody>
      </p:sp>
      <p:sp>
        <p:nvSpPr>
          <p:cNvPr id="11" name="Text 9"/>
          <p:cNvSpPr/>
          <p:nvPr/>
        </p:nvSpPr>
        <p:spPr>
          <a:xfrm>
            <a:off x="411480" y="4114800"/>
            <a:ext cx="7315200" cy="320040"/>
          </a:xfrm>
          <a:prstGeom prst="rect">
            <a:avLst/>
          </a:prstGeom>
          <a:noFill/>
          <a:ln/>
        </p:spPr>
        <p:txBody>
          <a:bodyPr wrap="square" rtlCol="0" anchor="ctr"/>
          <a:lstStyle/>
          <a:p>
            <a:pPr marL="0" indent="0">
              <a:buNone/>
            </a:pPr>
            <a:r>
              <a:rPr lang="en-US" sz="1300" b="1" dirty="0">
                <a:solidFill>
                  <a:srgbClr val="00B67A"/>
                </a:solidFill>
                <a:latin typeface="Calibri" pitchFamily="34" charset="0"/>
                <a:ea typeface="Calibri" pitchFamily="34" charset="-122"/>
                <a:cs typeface="Calibri" pitchFamily="34" charset="-120"/>
              </a:rPr>
              <a:t>Analyst: </a:t>
            </a:r>
            <a:r>
              <a:rPr lang="en-US" sz="1300" dirty="0">
                <a:solidFill>
                  <a:srgbClr val="A0AEC0"/>
                </a:solidFill>
                <a:latin typeface="Calibri" pitchFamily="34" charset="0"/>
                <a:ea typeface="Calibri" pitchFamily="34" charset="-122"/>
                <a:cs typeface="Calibri" pitchFamily="34" charset="-120"/>
              </a:rPr>
              <a:t>Tushar Kumar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1A2E"/>
          </a:solidFill>
          <a:ln w="12700">
            <a:solidFill>
              <a:srgbClr val="1A1A2E"/>
            </a:solidFill>
            <a:prstDash val="solid"/>
          </a:ln>
        </p:spPr>
        <p:txBody>
          <a:bodyPr/>
          <a:lstStyle/>
          <a:p>
            <a:endParaRPr lang="en-US"/>
          </a:p>
        </p:txBody>
      </p:sp>
      <p:sp>
        <p:nvSpPr>
          <p:cNvPr id="3" name="Shape 1"/>
          <p:cNvSpPr/>
          <p:nvPr/>
        </p:nvSpPr>
        <p:spPr>
          <a:xfrm>
            <a:off x="0" y="0"/>
            <a:ext cx="164592" cy="914400"/>
          </a:xfrm>
          <a:prstGeom prst="rect">
            <a:avLst/>
          </a:prstGeom>
          <a:solidFill>
            <a:srgbClr val="00B67A"/>
          </a:solidFill>
          <a:ln w="12700">
            <a:solidFill>
              <a:srgbClr val="00B67A"/>
            </a:solidFill>
            <a:prstDash val="solid"/>
          </a:ln>
        </p:spPr>
        <p:txBody>
          <a:bodyPr/>
          <a:lstStyle/>
          <a:p>
            <a:endParaRPr lang="en-US"/>
          </a:p>
        </p:txBody>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OVERVIEW</a:t>
            </a:r>
            <a:endParaRPr lang="en-US" sz="2200" dirty="0"/>
          </a:p>
        </p:txBody>
      </p:sp>
      <p:sp>
        <p:nvSpPr>
          <p:cNvPr id="5" name="Shape 3"/>
          <p:cNvSpPr/>
          <p:nvPr/>
        </p:nvSpPr>
        <p:spPr>
          <a:xfrm>
            <a:off x="320040" y="1051560"/>
            <a:ext cx="3840480" cy="3474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051560"/>
            <a:ext cx="3840480" cy="411480"/>
          </a:xfrm>
          <a:prstGeom prst="rect">
            <a:avLst/>
          </a:prstGeom>
          <a:solidFill>
            <a:srgbClr val="00B67A"/>
          </a:solidFill>
          <a:ln w="12700">
            <a:solidFill>
              <a:srgbClr val="00B67A"/>
            </a:solidFill>
            <a:prstDash val="solid"/>
          </a:ln>
        </p:spPr>
        <p:txBody>
          <a:bodyPr/>
          <a:lstStyle/>
          <a:p>
            <a:endParaRPr lang="en-US"/>
          </a:p>
        </p:txBody>
      </p:sp>
      <p:sp>
        <p:nvSpPr>
          <p:cNvPr id="7" name="Text 5"/>
          <p:cNvSpPr/>
          <p:nvPr/>
        </p:nvSpPr>
        <p:spPr>
          <a:xfrm>
            <a:off x="320040" y="1051560"/>
            <a:ext cx="3840480" cy="411480"/>
          </a:xfrm>
          <a:prstGeom prst="rect">
            <a:avLst/>
          </a:prstGeom>
          <a:noFill/>
          <a:ln/>
        </p:spPr>
        <p:txBody>
          <a:bodyPr wrap="square" lIns="0" tIns="0" rIns="0" bIns="0" rtlCol="0" anchor="ctr"/>
          <a:lstStyle/>
          <a:p>
            <a:pPr marL="0" indent="0" algn="ctr">
              <a:buNone/>
            </a:pPr>
            <a:r>
              <a:rPr lang="en-US" sz="1200" b="1" dirty="0">
                <a:solidFill>
                  <a:srgbClr val="FFFFFF"/>
                </a:solidFill>
              </a:rPr>
              <a:t>BUSINESS CONTEXT</a:t>
            </a:r>
            <a:endParaRPr lang="en-US" sz="1200" dirty="0"/>
          </a:p>
        </p:txBody>
      </p:sp>
      <p:sp>
        <p:nvSpPr>
          <p:cNvPr id="8" name="Text 6"/>
          <p:cNvSpPr/>
          <p:nvPr/>
        </p:nvSpPr>
        <p:spPr>
          <a:xfrm>
            <a:off x="457200" y="1600200"/>
            <a:ext cx="3566160" cy="283464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Back Market is a two-sided marketplace for refurbished electronics, connecting individual buyers with professional refurbishers across Europe and North America.</a:t>
            </a:r>
            <a:endParaRPr lang="en-US" sz="1300" dirty="0"/>
          </a:p>
          <a:p>
            <a:pPr marL="0" indent="0">
              <a:buNone/>
            </a:pPr>
            <a:endParaRPr lang="en-US" sz="1300" dirty="0"/>
          </a:p>
          <a:p>
            <a:pPr marL="0" indent="0">
              <a:buNone/>
            </a:pPr>
            <a:r>
              <a:rPr lang="en-US" sz="1300" dirty="0">
                <a:solidFill>
                  <a:srgbClr val="1F2937"/>
                </a:solidFill>
                <a:latin typeface="Calibri" pitchFamily="34" charset="0"/>
                <a:ea typeface="Calibri" pitchFamily="34" charset="-122"/>
                <a:cs typeface="Calibri" pitchFamily="34" charset="-120"/>
              </a:rPr>
              <a:t>This project simulates the analytical work of a Business Data Analyst inside Back Market  -  using real marketplace KPIs and business logic to answer practical commercial questions.</a:t>
            </a:r>
            <a:endParaRPr lang="en-US" sz="1300" dirty="0"/>
          </a:p>
        </p:txBody>
      </p:sp>
      <p:sp>
        <p:nvSpPr>
          <p:cNvPr id="9" name="Shape 7"/>
          <p:cNvSpPr/>
          <p:nvPr/>
        </p:nvSpPr>
        <p:spPr>
          <a:xfrm>
            <a:off x="4572000" y="1051560"/>
            <a:ext cx="4251960" cy="3474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572000" y="1051560"/>
            <a:ext cx="4251960" cy="411480"/>
          </a:xfrm>
          <a:prstGeom prst="rect">
            <a:avLst/>
          </a:prstGeom>
          <a:solidFill>
            <a:srgbClr val="1A1A2E"/>
          </a:solidFill>
          <a:ln w="12700">
            <a:solidFill>
              <a:srgbClr val="1A1A2E"/>
            </a:solidFill>
            <a:prstDash val="solid"/>
          </a:ln>
        </p:spPr>
        <p:txBody>
          <a:bodyPr/>
          <a:lstStyle/>
          <a:p>
            <a:endParaRPr lang="en-US"/>
          </a:p>
        </p:txBody>
      </p:sp>
      <p:sp>
        <p:nvSpPr>
          <p:cNvPr id="11" name="Text 9"/>
          <p:cNvSpPr/>
          <p:nvPr/>
        </p:nvSpPr>
        <p:spPr>
          <a:xfrm>
            <a:off x="4572000" y="1051560"/>
            <a:ext cx="4251960" cy="411480"/>
          </a:xfrm>
          <a:prstGeom prst="rect">
            <a:avLst/>
          </a:prstGeom>
          <a:noFill/>
          <a:ln/>
        </p:spPr>
        <p:txBody>
          <a:bodyPr wrap="square" lIns="0" tIns="0" rIns="0" bIns="0" rtlCol="0" anchor="ctr"/>
          <a:lstStyle/>
          <a:p>
            <a:pPr marL="0" indent="0" algn="ctr">
              <a:buNone/>
            </a:pPr>
            <a:r>
              <a:rPr lang="en-US" sz="1200" b="1" dirty="0">
                <a:solidFill>
                  <a:srgbClr val="FFFFFF"/>
                </a:solidFill>
              </a:rPr>
              <a:t>5 BUSINESS QUESTIONS ANSWERED</a:t>
            </a:r>
            <a:endParaRPr lang="en-US" sz="1200" dirty="0"/>
          </a:p>
        </p:txBody>
      </p:sp>
      <p:sp>
        <p:nvSpPr>
          <p:cNvPr id="12" name="Shape 10"/>
          <p:cNvSpPr/>
          <p:nvPr/>
        </p:nvSpPr>
        <p:spPr>
          <a:xfrm>
            <a:off x="4709160" y="1600200"/>
            <a:ext cx="384048" cy="347472"/>
          </a:xfrm>
          <a:prstGeom prst="rect">
            <a:avLst/>
          </a:prstGeom>
          <a:solidFill>
            <a:srgbClr val="00B67A"/>
          </a:solidFill>
          <a:ln w="12700">
            <a:solidFill>
              <a:srgbClr val="00B67A"/>
            </a:solidFill>
            <a:prstDash val="solid"/>
          </a:ln>
        </p:spPr>
        <p:txBody>
          <a:bodyPr/>
          <a:lstStyle/>
          <a:p>
            <a:endParaRPr lang="en-US"/>
          </a:p>
        </p:txBody>
      </p:sp>
      <p:sp>
        <p:nvSpPr>
          <p:cNvPr id="13" name="Text 11"/>
          <p:cNvSpPr/>
          <p:nvPr/>
        </p:nvSpPr>
        <p:spPr>
          <a:xfrm>
            <a:off x="4709160" y="1600200"/>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Q1</a:t>
            </a:r>
            <a:endParaRPr lang="en-US" sz="1100" dirty="0"/>
          </a:p>
        </p:txBody>
      </p:sp>
      <p:sp>
        <p:nvSpPr>
          <p:cNvPr id="14" name="Text 12"/>
          <p:cNvSpPr/>
          <p:nvPr/>
        </p:nvSpPr>
        <p:spPr>
          <a:xfrm>
            <a:off x="5166360" y="1600200"/>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product categories generate the most revenue?</a:t>
            </a:r>
            <a:endParaRPr lang="en-US" sz="1200" dirty="0"/>
          </a:p>
        </p:txBody>
      </p:sp>
      <p:sp>
        <p:nvSpPr>
          <p:cNvPr id="15" name="Shape 13"/>
          <p:cNvSpPr/>
          <p:nvPr/>
        </p:nvSpPr>
        <p:spPr>
          <a:xfrm>
            <a:off x="4709160" y="2167128"/>
            <a:ext cx="384048" cy="347472"/>
          </a:xfrm>
          <a:prstGeom prst="rect">
            <a:avLst/>
          </a:prstGeom>
          <a:solidFill>
            <a:srgbClr val="00B67A"/>
          </a:solidFill>
          <a:ln w="12700">
            <a:solidFill>
              <a:srgbClr val="00B67A"/>
            </a:solidFill>
            <a:prstDash val="solid"/>
          </a:ln>
        </p:spPr>
        <p:txBody>
          <a:bodyPr/>
          <a:lstStyle/>
          <a:p>
            <a:endParaRPr lang="en-US"/>
          </a:p>
        </p:txBody>
      </p:sp>
      <p:sp>
        <p:nvSpPr>
          <p:cNvPr id="16" name="Text 14"/>
          <p:cNvSpPr/>
          <p:nvPr/>
        </p:nvSpPr>
        <p:spPr>
          <a:xfrm>
            <a:off x="4709160" y="2167128"/>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Q2</a:t>
            </a:r>
            <a:endParaRPr lang="en-US" sz="1100" dirty="0"/>
          </a:p>
        </p:txBody>
      </p:sp>
      <p:sp>
        <p:nvSpPr>
          <p:cNvPr id="17" name="Text 15"/>
          <p:cNvSpPr/>
          <p:nvPr/>
        </p:nvSpPr>
        <p:spPr>
          <a:xfrm>
            <a:off x="5166360" y="2167128"/>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countries drive the most orders and revenue?</a:t>
            </a:r>
            <a:endParaRPr lang="en-US" sz="1200" dirty="0"/>
          </a:p>
        </p:txBody>
      </p:sp>
      <p:sp>
        <p:nvSpPr>
          <p:cNvPr id="18" name="Shape 16"/>
          <p:cNvSpPr/>
          <p:nvPr/>
        </p:nvSpPr>
        <p:spPr>
          <a:xfrm>
            <a:off x="4709160" y="2734056"/>
            <a:ext cx="384048" cy="347472"/>
          </a:xfrm>
          <a:prstGeom prst="rect">
            <a:avLst/>
          </a:prstGeom>
          <a:solidFill>
            <a:srgbClr val="00B67A"/>
          </a:solidFill>
          <a:ln w="12700">
            <a:solidFill>
              <a:srgbClr val="00B67A"/>
            </a:solidFill>
            <a:prstDash val="solid"/>
          </a:ln>
        </p:spPr>
        <p:txBody>
          <a:bodyPr/>
          <a:lstStyle/>
          <a:p>
            <a:endParaRPr lang="en-US"/>
          </a:p>
        </p:txBody>
      </p:sp>
      <p:sp>
        <p:nvSpPr>
          <p:cNvPr id="19" name="Text 17"/>
          <p:cNvSpPr/>
          <p:nvPr/>
        </p:nvSpPr>
        <p:spPr>
          <a:xfrm>
            <a:off x="4709160" y="2734056"/>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Q3</a:t>
            </a:r>
            <a:endParaRPr lang="en-US" sz="1100" dirty="0"/>
          </a:p>
        </p:txBody>
      </p:sp>
      <p:sp>
        <p:nvSpPr>
          <p:cNvPr id="20" name="Text 18"/>
          <p:cNvSpPr/>
          <p:nvPr/>
        </p:nvSpPr>
        <p:spPr>
          <a:xfrm>
            <a:off x="5166360" y="2734056"/>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sellers have the highest return rates?</a:t>
            </a:r>
            <a:endParaRPr lang="en-US" sz="1200" dirty="0"/>
          </a:p>
        </p:txBody>
      </p:sp>
      <p:sp>
        <p:nvSpPr>
          <p:cNvPr id="21" name="Shape 19"/>
          <p:cNvSpPr/>
          <p:nvPr/>
        </p:nvSpPr>
        <p:spPr>
          <a:xfrm>
            <a:off x="4709160" y="3300984"/>
            <a:ext cx="384048" cy="347472"/>
          </a:xfrm>
          <a:prstGeom prst="rect">
            <a:avLst/>
          </a:prstGeom>
          <a:solidFill>
            <a:srgbClr val="00B67A"/>
          </a:solidFill>
          <a:ln w="12700">
            <a:solidFill>
              <a:srgbClr val="00B67A"/>
            </a:solidFill>
            <a:prstDash val="solid"/>
          </a:ln>
        </p:spPr>
        <p:txBody>
          <a:bodyPr/>
          <a:lstStyle/>
          <a:p>
            <a:endParaRPr lang="en-US"/>
          </a:p>
        </p:txBody>
      </p:sp>
      <p:sp>
        <p:nvSpPr>
          <p:cNvPr id="22" name="Text 20"/>
          <p:cNvSpPr/>
          <p:nvPr/>
        </p:nvSpPr>
        <p:spPr>
          <a:xfrm>
            <a:off x="4709160" y="3300984"/>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Q4</a:t>
            </a:r>
            <a:endParaRPr lang="en-US" sz="1100" dirty="0"/>
          </a:p>
        </p:txBody>
      </p:sp>
      <p:sp>
        <p:nvSpPr>
          <p:cNvPr id="23" name="Text 21"/>
          <p:cNvSpPr/>
          <p:nvPr/>
        </p:nvSpPr>
        <p:spPr>
          <a:xfrm>
            <a:off x="5166360" y="3300984"/>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categories have the most returned orders?</a:t>
            </a:r>
            <a:endParaRPr lang="en-US" sz="1200" dirty="0"/>
          </a:p>
        </p:txBody>
      </p:sp>
      <p:sp>
        <p:nvSpPr>
          <p:cNvPr id="24" name="Shape 22"/>
          <p:cNvSpPr/>
          <p:nvPr/>
        </p:nvSpPr>
        <p:spPr>
          <a:xfrm>
            <a:off x="4709160" y="3867912"/>
            <a:ext cx="384048" cy="347472"/>
          </a:xfrm>
          <a:prstGeom prst="rect">
            <a:avLst/>
          </a:prstGeom>
          <a:solidFill>
            <a:srgbClr val="00B67A"/>
          </a:solidFill>
          <a:ln w="12700">
            <a:solidFill>
              <a:srgbClr val="00B67A"/>
            </a:solidFill>
            <a:prstDash val="solid"/>
          </a:ln>
        </p:spPr>
        <p:txBody>
          <a:bodyPr/>
          <a:lstStyle/>
          <a:p>
            <a:endParaRPr lang="en-US"/>
          </a:p>
        </p:txBody>
      </p:sp>
      <p:sp>
        <p:nvSpPr>
          <p:cNvPr id="25" name="Text 23"/>
          <p:cNvSpPr/>
          <p:nvPr/>
        </p:nvSpPr>
        <p:spPr>
          <a:xfrm>
            <a:off x="4709160" y="3867912"/>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Q5</a:t>
            </a:r>
            <a:endParaRPr lang="en-US" sz="1100" dirty="0"/>
          </a:p>
        </p:txBody>
      </p:sp>
      <p:sp>
        <p:nvSpPr>
          <p:cNvPr id="26" name="Text 24"/>
          <p:cNvSpPr/>
          <p:nvPr/>
        </p:nvSpPr>
        <p:spPr>
          <a:xfrm>
            <a:off x="5166360" y="3867912"/>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sellers had the highest completed order volume?</a:t>
            </a:r>
            <a:endParaRPr lang="en-US" sz="1200" dirty="0"/>
          </a:p>
        </p:txBody>
      </p:sp>
      <p:sp>
        <p:nvSpPr>
          <p:cNvPr id="27" name="Text 25"/>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1A2E"/>
          </a:solidFill>
          <a:ln w="12700">
            <a:solidFill>
              <a:srgbClr val="1A1A2E"/>
            </a:solidFill>
            <a:prstDash val="solid"/>
          </a:ln>
        </p:spPr>
        <p:txBody>
          <a:bodyPr/>
          <a:lstStyle/>
          <a:p>
            <a:endParaRPr lang="en-US"/>
          </a:p>
        </p:txBody>
      </p:sp>
      <p:sp>
        <p:nvSpPr>
          <p:cNvPr id="3" name="Shape 1"/>
          <p:cNvSpPr/>
          <p:nvPr/>
        </p:nvSpPr>
        <p:spPr>
          <a:xfrm>
            <a:off x="0" y="0"/>
            <a:ext cx="164592" cy="914400"/>
          </a:xfrm>
          <a:prstGeom prst="rect">
            <a:avLst/>
          </a:prstGeom>
          <a:solidFill>
            <a:srgbClr val="00B67A"/>
          </a:solidFill>
          <a:ln w="12700">
            <a:solidFill>
              <a:srgbClr val="00B67A"/>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Q1  -  REVENUE BY PRODUCT CATEGORY</a:t>
            </a:r>
            <a:endParaRPr lang="en-US" sz="2000" dirty="0"/>
          </a:p>
        </p:txBody>
      </p:sp>
      <p:sp>
        <p:nvSpPr>
          <p:cNvPr id="5" name="Shape 3"/>
          <p:cNvSpPr/>
          <p:nvPr/>
        </p:nvSpPr>
        <p:spPr>
          <a:xfrm>
            <a:off x="7132320" y="182880"/>
            <a:ext cx="1645920" cy="548640"/>
          </a:xfrm>
          <a:prstGeom prst="rect">
            <a:avLst/>
          </a:prstGeom>
          <a:solidFill>
            <a:srgbClr val="00B67A"/>
          </a:solidFill>
          <a:ln w="12700">
            <a:solidFill>
              <a:srgbClr val="00B67A"/>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Excel</a:t>
            </a:r>
            <a:endParaRPr lang="en-US" sz="1000" dirty="0"/>
          </a:p>
        </p:txBody>
      </p:sp>
      <p:sp>
        <p:nvSpPr>
          <p:cNvPr id="7" name="Shape 5"/>
          <p:cNvSpPr/>
          <p:nvPr/>
        </p:nvSpPr>
        <p:spPr>
          <a:xfrm>
            <a:off x="32004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320040" y="1005840"/>
            <a:ext cx="2606040" cy="64008"/>
          </a:xfrm>
          <a:prstGeom prst="rect">
            <a:avLst/>
          </a:prstGeom>
          <a:solidFill>
            <a:srgbClr val="00B67A"/>
          </a:solidFill>
          <a:ln w="12700">
            <a:solidFill>
              <a:srgbClr val="00B67A"/>
            </a:solidFill>
            <a:prstDash val="solid"/>
          </a:ln>
        </p:spPr>
        <p:txBody>
          <a:bodyPr/>
          <a:lstStyle/>
          <a:p>
            <a:endParaRPr lang="en-US"/>
          </a:p>
        </p:txBody>
      </p:sp>
      <p:sp>
        <p:nvSpPr>
          <p:cNvPr id="9" name="Text 7"/>
          <p:cNvSpPr/>
          <p:nvPr/>
        </p:nvSpPr>
        <p:spPr>
          <a:xfrm>
            <a:off x="320040" y="1069848"/>
            <a:ext cx="2606040" cy="502920"/>
          </a:xfrm>
          <a:prstGeom prst="rect">
            <a:avLst/>
          </a:prstGeom>
          <a:noFill/>
          <a:ln/>
        </p:spPr>
        <p:txBody>
          <a:bodyPr wrap="square" rtlCol="0" anchor="ctr"/>
          <a:lstStyle/>
          <a:p>
            <a:pPr marL="0" indent="0" algn="ctr">
              <a:buNone/>
            </a:pPr>
            <a:r>
              <a:rPr lang="en-US" sz="2200" b="1" dirty="0">
                <a:solidFill>
                  <a:srgbClr val="00B67A"/>
                </a:solidFill>
                <a:latin typeface="Calibri" pitchFamily="34" charset="0"/>
                <a:ea typeface="Calibri" pitchFamily="34" charset="-122"/>
                <a:cs typeface="Calibri" pitchFamily="34" charset="-120"/>
              </a:rPr>
              <a:t>€199.96K</a:t>
            </a:r>
            <a:endParaRPr lang="en-US" sz="2200" dirty="0"/>
          </a:p>
        </p:txBody>
      </p:sp>
      <p:sp>
        <p:nvSpPr>
          <p:cNvPr id="10" name="Text 8"/>
          <p:cNvSpPr/>
          <p:nvPr/>
        </p:nvSpPr>
        <p:spPr>
          <a:xfrm>
            <a:off x="320040" y="1572768"/>
            <a:ext cx="2606040" cy="256032"/>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Total Revenue</a:t>
            </a:r>
            <a:endParaRPr lang="en-US" sz="1100" dirty="0"/>
          </a:p>
        </p:txBody>
      </p:sp>
      <p:sp>
        <p:nvSpPr>
          <p:cNvPr id="11" name="Shape 9"/>
          <p:cNvSpPr/>
          <p:nvPr/>
        </p:nvSpPr>
        <p:spPr>
          <a:xfrm>
            <a:off x="315468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154680" y="1005840"/>
            <a:ext cx="2606040" cy="64008"/>
          </a:xfrm>
          <a:prstGeom prst="rect">
            <a:avLst/>
          </a:prstGeom>
          <a:solidFill>
            <a:srgbClr val="00B67A"/>
          </a:solidFill>
          <a:ln w="12700">
            <a:solidFill>
              <a:srgbClr val="00B67A"/>
            </a:solidFill>
            <a:prstDash val="solid"/>
          </a:ln>
        </p:spPr>
        <p:txBody>
          <a:bodyPr/>
          <a:lstStyle/>
          <a:p>
            <a:endParaRPr lang="en-US"/>
          </a:p>
        </p:txBody>
      </p:sp>
      <p:sp>
        <p:nvSpPr>
          <p:cNvPr id="13" name="Text 11"/>
          <p:cNvSpPr/>
          <p:nvPr/>
        </p:nvSpPr>
        <p:spPr>
          <a:xfrm>
            <a:off x="3154680" y="1069848"/>
            <a:ext cx="2606040" cy="502920"/>
          </a:xfrm>
          <a:prstGeom prst="rect">
            <a:avLst/>
          </a:prstGeom>
          <a:noFill/>
          <a:ln/>
        </p:spPr>
        <p:txBody>
          <a:bodyPr wrap="square" rtlCol="0" anchor="ctr"/>
          <a:lstStyle/>
          <a:p>
            <a:pPr marL="0" indent="0" algn="ctr">
              <a:buNone/>
            </a:pPr>
            <a:r>
              <a:rPr lang="en-US" sz="2200" b="1" dirty="0">
                <a:solidFill>
                  <a:srgbClr val="00B67A"/>
                </a:solidFill>
                <a:latin typeface="Calibri" pitchFamily="34" charset="0"/>
                <a:ea typeface="Calibri" pitchFamily="34" charset="-122"/>
                <a:cs typeface="Calibri" pitchFamily="34" charset="-120"/>
              </a:rPr>
              <a:t>493</a:t>
            </a:r>
            <a:endParaRPr lang="en-US" sz="2200" dirty="0"/>
          </a:p>
        </p:txBody>
      </p:sp>
      <p:sp>
        <p:nvSpPr>
          <p:cNvPr id="14" name="Text 12"/>
          <p:cNvSpPr/>
          <p:nvPr/>
        </p:nvSpPr>
        <p:spPr>
          <a:xfrm>
            <a:off x="3154680" y="1572768"/>
            <a:ext cx="2606040" cy="256032"/>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Completed Orders</a:t>
            </a:r>
            <a:endParaRPr lang="en-US" sz="1100" dirty="0"/>
          </a:p>
        </p:txBody>
      </p:sp>
      <p:sp>
        <p:nvSpPr>
          <p:cNvPr id="15" name="Shape 13"/>
          <p:cNvSpPr/>
          <p:nvPr/>
        </p:nvSpPr>
        <p:spPr>
          <a:xfrm>
            <a:off x="598932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5989320" y="1005840"/>
            <a:ext cx="2606040" cy="64008"/>
          </a:xfrm>
          <a:prstGeom prst="rect">
            <a:avLst/>
          </a:prstGeom>
          <a:solidFill>
            <a:srgbClr val="00B67A"/>
          </a:solidFill>
          <a:ln w="12700">
            <a:solidFill>
              <a:srgbClr val="00B67A"/>
            </a:solidFill>
            <a:prstDash val="solid"/>
          </a:ln>
        </p:spPr>
        <p:txBody>
          <a:bodyPr/>
          <a:lstStyle/>
          <a:p>
            <a:endParaRPr lang="en-US"/>
          </a:p>
        </p:txBody>
      </p:sp>
      <p:sp>
        <p:nvSpPr>
          <p:cNvPr id="17" name="Text 15"/>
          <p:cNvSpPr/>
          <p:nvPr/>
        </p:nvSpPr>
        <p:spPr>
          <a:xfrm>
            <a:off x="5989320" y="1069848"/>
            <a:ext cx="2606040" cy="502920"/>
          </a:xfrm>
          <a:prstGeom prst="rect">
            <a:avLst/>
          </a:prstGeom>
          <a:noFill/>
          <a:ln/>
        </p:spPr>
        <p:txBody>
          <a:bodyPr wrap="square" rtlCol="0" anchor="ctr"/>
          <a:lstStyle/>
          <a:p>
            <a:pPr marL="0" indent="0" algn="ctr">
              <a:buNone/>
            </a:pPr>
            <a:r>
              <a:rPr lang="en-US" sz="2200" b="1" dirty="0">
                <a:solidFill>
                  <a:srgbClr val="00B67A"/>
                </a:solidFill>
                <a:latin typeface="Calibri" pitchFamily="34" charset="0"/>
                <a:ea typeface="Calibri" pitchFamily="34" charset="-122"/>
                <a:cs typeface="Calibri" pitchFamily="34" charset="-120"/>
              </a:rPr>
              <a:t>€323.50</a:t>
            </a:r>
            <a:endParaRPr lang="en-US" sz="2200" dirty="0"/>
          </a:p>
        </p:txBody>
      </p:sp>
      <p:sp>
        <p:nvSpPr>
          <p:cNvPr id="18" name="Text 16"/>
          <p:cNvSpPr/>
          <p:nvPr/>
        </p:nvSpPr>
        <p:spPr>
          <a:xfrm>
            <a:off x="5989320" y="1572768"/>
            <a:ext cx="2606040" cy="256032"/>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Avg Order Value</a:t>
            </a:r>
            <a:endParaRPr lang="en-US" sz="1100" dirty="0"/>
          </a:p>
        </p:txBody>
      </p:sp>
      <p:graphicFrame>
        <p:nvGraphicFramePr>
          <p:cNvPr id="19" name="Chart 0"/>
          <p:cNvGraphicFramePr/>
          <p:nvPr/>
        </p:nvGraphicFramePr>
        <p:xfrm>
          <a:off x="320040" y="1965960"/>
          <a:ext cx="53035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52160" y="1965960"/>
            <a:ext cx="2971800" cy="29260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5852160" y="1965960"/>
            <a:ext cx="2971800" cy="384048"/>
          </a:xfrm>
          <a:prstGeom prst="rect">
            <a:avLst/>
          </a:prstGeom>
          <a:solidFill>
            <a:srgbClr val="007A52"/>
          </a:solidFill>
          <a:ln w="12700">
            <a:solidFill>
              <a:srgbClr val="007A52"/>
            </a:solidFill>
            <a:prstDash val="solid"/>
          </a:ln>
        </p:spPr>
        <p:txBody>
          <a:bodyPr/>
          <a:lstStyle/>
          <a:p>
            <a:endParaRPr lang="en-US"/>
          </a:p>
        </p:txBody>
      </p:sp>
      <p:sp>
        <p:nvSpPr>
          <p:cNvPr id="22" name="Text 19"/>
          <p:cNvSpPr/>
          <p:nvPr/>
        </p:nvSpPr>
        <p:spPr>
          <a:xfrm>
            <a:off x="5852160" y="1965960"/>
            <a:ext cx="2971800" cy="384048"/>
          </a:xfrm>
          <a:prstGeom prst="rect">
            <a:avLst/>
          </a:prstGeom>
          <a:noFill/>
          <a:ln/>
        </p:spPr>
        <p:txBody>
          <a:bodyPr wrap="square" lIns="0" tIns="0" rIns="0" bIns="0" rtlCol="0" anchor="ctr"/>
          <a:lstStyle/>
          <a:p>
            <a:pPr marL="0" indent="0" algn="ctr">
              <a:buNone/>
            </a:pPr>
            <a:r>
              <a:rPr lang="en-US" sz="1200" b="1" dirty="0">
                <a:solidFill>
                  <a:srgbClr val="FFFFFF"/>
                </a:solidFill>
              </a:rPr>
              <a:t>KEY INSIGHTS</a:t>
            </a:r>
            <a:endParaRPr lang="en-US" sz="1200" dirty="0"/>
          </a:p>
        </p:txBody>
      </p:sp>
      <p:sp>
        <p:nvSpPr>
          <p:cNvPr id="23" name="Shape 20"/>
          <p:cNvSpPr/>
          <p:nvPr/>
        </p:nvSpPr>
        <p:spPr>
          <a:xfrm>
            <a:off x="5989320" y="2496312"/>
            <a:ext cx="164592" cy="164592"/>
          </a:xfrm>
          <a:prstGeom prst="ellipse">
            <a:avLst/>
          </a:prstGeom>
          <a:solidFill>
            <a:srgbClr val="00B67A"/>
          </a:solidFill>
          <a:ln w="12700">
            <a:solidFill>
              <a:srgbClr val="00B67A"/>
            </a:solidFill>
            <a:prstDash val="solid"/>
          </a:ln>
        </p:spPr>
        <p:txBody>
          <a:bodyPr/>
          <a:lstStyle/>
          <a:p>
            <a:endParaRPr lang="en-US"/>
          </a:p>
        </p:txBody>
      </p:sp>
      <p:sp>
        <p:nvSpPr>
          <p:cNvPr id="24" name="Text 21"/>
          <p:cNvSpPr/>
          <p:nvPr/>
        </p:nvSpPr>
        <p:spPr>
          <a:xfrm>
            <a:off x="6236208" y="245059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Laptops lead revenue at €71K despite fewer orders (97) than Smartphones (152)</a:t>
            </a:r>
            <a:endParaRPr lang="en-US" sz="1050" dirty="0"/>
          </a:p>
        </p:txBody>
      </p:sp>
      <p:sp>
        <p:nvSpPr>
          <p:cNvPr id="25" name="Shape 22"/>
          <p:cNvSpPr/>
          <p:nvPr/>
        </p:nvSpPr>
        <p:spPr>
          <a:xfrm>
            <a:off x="5989320" y="3090672"/>
            <a:ext cx="164592" cy="164592"/>
          </a:xfrm>
          <a:prstGeom prst="ellipse">
            <a:avLst/>
          </a:prstGeom>
          <a:solidFill>
            <a:srgbClr val="00B67A"/>
          </a:solidFill>
          <a:ln w="12700">
            <a:solidFill>
              <a:srgbClr val="00B67A"/>
            </a:solidFill>
            <a:prstDash val="solid"/>
          </a:ln>
        </p:spPr>
        <p:txBody>
          <a:bodyPr/>
          <a:lstStyle/>
          <a:p>
            <a:endParaRPr lang="en-US"/>
          </a:p>
        </p:txBody>
      </p:sp>
      <p:sp>
        <p:nvSpPr>
          <p:cNvPr id="26" name="Text 23"/>
          <p:cNvSpPr/>
          <p:nvPr/>
        </p:nvSpPr>
        <p:spPr>
          <a:xfrm>
            <a:off x="6236208" y="304495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Laptops avg order value (€676) is nearly 2× Smartphones (€355)</a:t>
            </a:r>
            <a:endParaRPr lang="en-US" sz="1050" dirty="0"/>
          </a:p>
        </p:txBody>
      </p:sp>
      <p:sp>
        <p:nvSpPr>
          <p:cNvPr id="27" name="Shape 24"/>
          <p:cNvSpPr/>
          <p:nvPr/>
        </p:nvSpPr>
        <p:spPr>
          <a:xfrm>
            <a:off x="5989320" y="3685032"/>
            <a:ext cx="164592" cy="164592"/>
          </a:xfrm>
          <a:prstGeom prst="ellipse">
            <a:avLst/>
          </a:prstGeom>
          <a:solidFill>
            <a:srgbClr val="00B67A"/>
          </a:solidFill>
          <a:ln w="12700">
            <a:solidFill>
              <a:srgbClr val="00B67A"/>
            </a:solidFill>
            <a:prstDash val="solid"/>
          </a:ln>
        </p:spPr>
        <p:txBody>
          <a:bodyPr/>
          <a:lstStyle/>
          <a:p>
            <a:endParaRPr lang="en-US"/>
          </a:p>
        </p:txBody>
      </p:sp>
      <p:sp>
        <p:nvSpPr>
          <p:cNvPr id="28" name="Text 25"/>
          <p:cNvSpPr/>
          <p:nvPr/>
        </p:nvSpPr>
        <p:spPr>
          <a:xfrm>
            <a:off x="6236208" y="363931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Top 2 categories (Laptops + Smartphones) = 67% of total revenue</a:t>
            </a:r>
            <a:endParaRPr lang="en-US" sz="1050" dirty="0"/>
          </a:p>
        </p:txBody>
      </p:sp>
      <p:sp>
        <p:nvSpPr>
          <p:cNvPr id="29" name="Shape 26"/>
          <p:cNvSpPr/>
          <p:nvPr/>
        </p:nvSpPr>
        <p:spPr>
          <a:xfrm>
            <a:off x="5989320" y="4279392"/>
            <a:ext cx="164592" cy="164592"/>
          </a:xfrm>
          <a:prstGeom prst="ellipse">
            <a:avLst/>
          </a:prstGeom>
          <a:solidFill>
            <a:srgbClr val="00B67A"/>
          </a:solidFill>
          <a:ln w="12700">
            <a:solidFill>
              <a:srgbClr val="00B67A"/>
            </a:solidFill>
            <a:prstDash val="solid"/>
          </a:ln>
        </p:spPr>
        <p:txBody>
          <a:bodyPr/>
          <a:lstStyle/>
          <a:p>
            <a:endParaRPr lang="en-US"/>
          </a:p>
        </p:txBody>
      </p:sp>
      <p:sp>
        <p:nvSpPr>
          <p:cNvPr id="30" name="Text 27"/>
          <p:cNvSpPr/>
          <p:nvPr/>
        </p:nvSpPr>
        <p:spPr>
          <a:xfrm>
            <a:off x="6236208" y="423367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Headphones drive lowest revenue at €10K  -  lowest priority category</a:t>
            </a:r>
            <a:endParaRPr lang="en-US" sz="1050" dirty="0"/>
          </a:p>
        </p:txBody>
      </p:sp>
      <p:sp>
        <p:nvSpPr>
          <p:cNvPr id="31" name="Shape 28"/>
          <p:cNvSpPr/>
          <p:nvPr/>
        </p:nvSpPr>
        <p:spPr>
          <a:xfrm>
            <a:off x="5852160" y="4617720"/>
            <a:ext cx="2971800" cy="297180"/>
          </a:xfrm>
          <a:prstGeom prst="rect">
            <a:avLst/>
          </a:prstGeom>
          <a:solidFill>
            <a:srgbClr val="EAF7EF"/>
          </a:solidFill>
          <a:ln w="12700">
            <a:solidFill>
              <a:srgbClr val="00B67A"/>
            </a:solidFill>
            <a:prstDash val="solid"/>
          </a:ln>
        </p:spPr>
        <p:txBody>
          <a:bodyPr/>
          <a:lstStyle/>
          <a:p>
            <a:r>
              <a:rPr lang="en-US" sz="800" dirty="0">
                <a:solidFill>
                  <a:srgbClr val="007A52"/>
                </a:solidFill>
                <a:latin typeface="Calibri" pitchFamily="34" charset="0"/>
                <a:ea typeface="Calibri" pitchFamily="34" charset="-122"/>
                <a:cs typeface="Calibri" pitchFamily="34" charset="-120"/>
              </a:rPr>
              <a:t>▶  Prioritise Laptop category investment  -  highest revenue per transaction</a:t>
            </a:r>
            <a:endParaRPr lang="en-US" sz="800" dirty="0"/>
          </a:p>
        </p:txBody>
      </p:sp>
      <p:sp>
        <p:nvSpPr>
          <p:cNvPr id="32" name="Text 29"/>
          <p:cNvSpPr/>
          <p:nvPr/>
        </p:nvSpPr>
        <p:spPr>
          <a:xfrm>
            <a:off x="5943600" y="4462272"/>
            <a:ext cx="2319867" cy="429768"/>
          </a:xfrm>
          <a:prstGeom prst="rect">
            <a:avLst/>
          </a:prstGeom>
          <a:noFill/>
          <a:ln/>
        </p:spPr>
        <p:txBody>
          <a:bodyPr wrap="square" rtlCol="0" anchor="ctr"/>
          <a:lstStyle/>
          <a:p>
            <a:pPr marL="0" indent="0">
              <a:buNone/>
            </a:pPr>
            <a:endParaRPr lang="en-US" sz="1000" dirty="0"/>
          </a:p>
        </p:txBody>
      </p:sp>
      <p:sp>
        <p:nvSpPr>
          <p:cNvPr id="33" name="Text 30"/>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1A2E"/>
          </a:solidFill>
          <a:ln w="12700">
            <a:solidFill>
              <a:srgbClr val="1A1A2E"/>
            </a:solidFill>
            <a:prstDash val="solid"/>
          </a:ln>
        </p:spPr>
        <p:txBody>
          <a:bodyPr/>
          <a:lstStyle/>
          <a:p>
            <a:endParaRPr lang="en-US"/>
          </a:p>
        </p:txBody>
      </p:sp>
      <p:sp>
        <p:nvSpPr>
          <p:cNvPr id="3" name="Shape 1"/>
          <p:cNvSpPr/>
          <p:nvPr/>
        </p:nvSpPr>
        <p:spPr>
          <a:xfrm>
            <a:off x="0" y="0"/>
            <a:ext cx="164592" cy="914400"/>
          </a:xfrm>
          <a:prstGeom prst="rect">
            <a:avLst/>
          </a:prstGeom>
          <a:solidFill>
            <a:srgbClr val="00B67A"/>
          </a:solidFill>
          <a:ln w="12700">
            <a:solidFill>
              <a:srgbClr val="00B67A"/>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Q2  -  GEOGRAPHIC PERFORMANCE</a:t>
            </a:r>
            <a:endParaRPr lang="en-US" sz="2000" dirty="0"/>
          </a:p>
        </p:txBody>
      </p:sp>
      <p:sp>
        <p:nvSpPr>
          <p:cNvPr id="5" name="Shape 3"/>
          <p:cNvSpPr/>
          <p:nvPr/>
        </p:nvSpPr>
        <p:spPr>
          <a:xfrm>
            <a:off x="7132320" y="182880"/>
            <a:ext cx="1645920" cy="548640"/>
          </a:xfrm>
          <a:prstGeom prst="rect">
            <a:avLst/>
          </a:prstGeom>
          <a:solidFill>
            <a:srgbClr val="00B67A"/>
          </a:solidFill>
          <a:ln w="12700">
            <a:solidFill>
              <a:srgbClr val="00B67A"/>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Power BI</a:t>
            </a:r>
            <a:endParaRPr lang="en-US" sz="1000" dirty="0"/>
          </a:p>
        </p:txBody>
      </p:sp>
      <p:graphicFrame>
        <p:nvGraphicFramePr>
          <p:cNvPr id="7" name="Chart 0"/>
          <p:cNvGraphicFramePr/>
          <p:nvPr/>
        </p:nvGraphicFramePr>
        <p:xfrm>
          <a:off x="320040" y="1005840"/>
          <a:ext cx="50292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577840" y="100584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5577840" y="1005840"/>
            <a:ext cx="73152" cy="777240"/>
          </a:xfrm>
          <a:prstGeom prst="rect">
            <a:avLst/>
          </a:prstGeom>
          <a:solidFill>
            <a:srgbClr val="00B67A"/>
          </a:solidFill>
          <a:ln w="12700">
            <a:solidFill>
              <a:srgbClr val="00B67A"/>
            </a:solidFill>
            <a:prstDash val="solid"/>
          </a:ln>
        </p:spPr>
        <p:txBody>
          <a:bodyPr/>
          <a:lstStyle/>
          <a:p>
            <a:endParaRPr lang="en-US"/>
          </a:p>
        </p:txBody>
      </p:sp>
      <p:sp>
        <p:nvSpPr>
          <p:cNvPr id="10" name="Text 7"/>
          <p:cNvSpPr/>
          <p:nvPr/>
        </p:nvSpPr>
        <p:spPr>
          <a:xfrm>
            <a:off x="5715000" y="105156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Belgium</a:t>
            </a:r>
            <a:endParaRPr lang="en-US" sz="1200" dirty="0"/>
          </a:p>
        </p:txBody>
      </p:sp>
      <p:sp>
        <p:nvSpPr>
          <p:cNvPr id="11" name="Text 8"/>
          <p:cNvSpPr/>
          <p:nvPr/>
        </p:nvSpPr>
        <p:spPr>
          <a:xfrm>
            <a:off x="7315200" y="1051560"/>
            <a:ext cx="1371600" cy="274320"/>
          </a:xfrm>
          <a:prstGeom prst="rect">
            <a:avLst/>
          </a:prstGeom>
          <a:noFill/>
          <a:ln/>
        </p:spPr>
        <p:txBody>
          <a:bodyPr wrap="square" rtlCol="0" anchor="ctr"/>
          <a:lstStyle/>
          <a:p>
            <a:pPr marL="0" indent="0" algn="r">
              <a:buNone/>
            </a:pPr>
            <a:r>
              <a:rPr lang="en-US" sz="1000" b="1" dirty="0">
                <a:solidFill>
                  <a:srgbClr val="00B67A"/>
                </a:solidFill>
                <a:latin typeface="Calibri" pitchFamily="34" charset="0"/>
                <a:ea typeface="Calibri" pitchFamily="34" charset="-122"/>
                <a:cs typeface="Calibri" pitchFamily="34" charset="-120"/>
              </a:rPr>
              <a:t>#1 Market</a:t>
            </a:r>
            <a:endParaRPr lang="en-US" sz="1000" dirty="0"/>
          </a:p>
        </p:txBody>
      </p:sp>
      <p:sp>
        <p:nvSpPr>
          <p:cNvPr id="12" name="Text 9"/>
          <p:cNvSpPr/>
          <p:nvPr/>
        </p:nvSpPr>
        <p:spPr>
          <a:xfrm>
            <a:off x="5715000" y="135331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58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€23.7K revenue</a:t>
            </a:r>
            <a:endParaRPr lang="en-US" sz="1000" dirty="0"/>
          </a:p>
        </p:txBody>
      </p:sp>
      <p:sp>
        <p:nvSpPr>
          <p:cNvPr id="13" name="Shape 10"/>
          <p:cNvSpPr/>
          <p:nvPr/>
        </p:nvSpPr>
        <p:spPr>
          <a:xfrm>
            <a:off x="5577840" y="187452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1"/>
          <p:cNvSpPr/>
          <p:nvPr/>
        </p:nvSpPr>
        <p:spPr>
          <a:xfrm>
            <a:off x="5577840" y="1874520"/>
            <a:ext cx="73152" cy="777240"/>
          </a:xfrm>
          <a:prstGeom prst="rect">
            <a:avLst/>
          </a:prstGeom>
          <a:solidFill>
            <a:srgbClr val="00B67A"/>
          </a:solidFill>
          <a:ln w="12700">
            <a:solidFill>
              <a:srgbClr val="00B67A"/>
            </a:solidFill>
            <a:prstDash val="solid"/>
          </a:ln>
        </p:spPr>
        <p:txBody>
          <a:bodyPr/>
          <a:lstStyle/>
          <a:p>
            <a:endParaRPr lang="en-US"/>
          </a:p>
        </p:txBody>
      </p:sp>
      <p:sp>
        <p:nvSpPr>
          <p:cNvPr id="15" name="Text 12"/>
          <p:cNvSpPr/>
          <p:nvPr/>
        </p:nvSpPr>
        <p:spPr>
          <a:xfrm>
            <a:off x="5715000" y="192024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Germany</a:t>
            </a:r>
            <a:endParaRPr lang="en-US" sz="1200" dirty="0"/>
          </a:p>
        </p:txBody>
      </p:sp>
      <p:sp>
        <p:nvSpPr>
          <p:cNvPr id="16" name="Text 13"/>
          <p:cNvSpPr/>
          <p:nvPr/>
        </p:nvSpPr>
        <p:spPr>
          <a:xfrm>
            <a:off x="7315200" y="1920240"/>
            <a:ext cx="1371600" cy="274320"/>
          </a:xfrm>
          <a:prstGeom prst="rect">
            <a:avLst/>
          </a:prstGeom>
          <a:noFill/>
          <a:ln/>
        </p:spPr>
        <p:txBody>
          <a:bodyPr wrap="square" rtlCol="0" anchor="ctr"/>
          <a:lstStyle/>
          <a:p>
            <a:pPr marL="0" indent="0" algn="r">
              <a:buNone/>
            </a:pPr>
            <a:r>
              <a:rPr lang="en-US" sz="1000" b="1" dirty="0">
                <a:solidFill>
                  <a:srgbClr val="00B67A"/>
                </a:solidFill>
                <a:latin typeface="Calibri" pitchFamily="34" charset="0"/>
                <a:ea typeface="Calibri" pitchFamily="34" charset="-122"/>
                <a:cs typeface="Calibri" pitchFamily="34" charset="-120"/>
              </a:rPr>
              <a:t>#2 Market</a:t>
            </a:r>
            <a:endParaRPr lang="en-US" sz="1000" dirty="0"/>
          </a:p>
        </p:txBody>
      </p:sp>
      <p:sp>
        <p:nvSpPr>
          <p:cNvPr id="17" name="Text 14"/>
          <p:cNvSpPr/>
          <p:nvPr/>
        </p:nvSpPr>
        <p:spPr>
          <a:xfrm>
            <a:off x="5715000" y="222199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55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€22.0K revenue</a:t>
            </a:r>
            <a:endParaRPr lang="en-US" sz="1000" dirty="0"/>
          </a:p>
        </p:txBody>
      </p:sp>
      <p:sp>
        <p:nvSpPr>
          <p:cNvPr id="18" name="Shape 15"/>
          <p:cNvSpPr/>
          <p:nvPr/>
        </p:nvSpPr>
        <p:spPr>
          <a:xfrm>
            <a:off x="5577840" y="274320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6"/>
          <p:cNvSpPr/>
          <p:nvPr/>
        </p:nvSpPr>
        <p:spPr>
          <a:xfrm>
            <a:off x="5577840" y="2743200"/>
            <a:ext cx="73152" cy="777240"/>
          </a:xfrm>
          <a:prstGeom prst="rect">
            <a:avLst/>
          </a:prstGeom>
          <a:solidFill>
            <a:srgbClr val="00B67A"/>
          </a:solidFill>
          <a:ln w="12700">
            <a:solidFill>
              <a:srgbClr val="00B67A"/>
            </a:solidFill>
            <a:prstDash val="solid"/>
          </a:ln>
        </p:spPr>
        <p:txBody>
          <a:bodyPr/>
          <a:lstStyle/>
          <a:p>
            <a:endParaRPr lang="en-US"/>
          </a:p>
        </p:txBody>
      </p:sp>
      <p:sp>
        <p:nvSpPr>
          <p:cNvPr id="20" name="Text 17"/>
          <p:cNvSpPr/>
          <p:nvPr/>
        </p:nvSpPr>
        <p:spPr>
          <a:xfrm>
            <a:off x="5715000" y="278892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Spain</a:t>
            </a:r>
            <a:endParaRPr lang="en-US" sz="1200" dirty="0"/>
          </a:p>
        </p:txBody>
      </p:sp>
      <p:sp>
        <p:nvSpPr>
          <p:cNvPr id="21" name="Text 18"/>
          <p:cNvSpPr/>
          <p:nvPr/>
        </p:nvSpPr>
        <p:spPr>
          <a:xfrm>
            <a:off x="7315200" y="2788920"/>
            <a:ext cx="1371600" cy="274320"/>
          </a:xfrm>
          <a:prstGeom prst="rect">
            <a:avLst/>
          </a:prstGeom>
          <a:noFill/>
          <a:ln/>
        </p:spPr>
        <p:txBody>
          <a:bodyPr wrap="square" rtlCol="0" anchor="ctr"/>
          <a:lstStyle/>
          <a:p>
            <a:pPr marL="0" indent="0" algn="r">
              <a:buNone/>
            </a:pPr>
            <a:r>
              <a:rPr lang="en-US" sz="1000" b="1" dirty="0">
                <a:solidFill>
                  <a:srgbClr val="00B67A"/>
                </a:solidFill>
                <a:latin typeface="Calibri" pitchFamily="34" charset="0"/>
                <a:ea typeface="Calibri" pitchFamily="34" charset="-122"/>
                <a:cs typeface="Calibri" pitchFamily="34" charset="-120"/>
              </a:rPr>
              <a:t>Hidden Gem</a:t>
            </a:r>
            <a:endParaRPr lang="en-US" sz="1000" dirty="0"/>
          </a:p>
        </p:txBody>
      </p:sp>
      <p:sp>
        <p:nvSpPr>
          <p:cNvPr id="22" name="Text 19"/>
          <p:cNvSpPr/>
          <p:nvPr/>
        </p:nvSpPr>
        <p:spPr>
          <a:xfrm>
            <a:off x="5715000" y="309067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48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€21.6K revenue</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Highest AOV: €380</a:t>
            </a:r>
            <a:endParaRPr lang="en-US" sz="1000" dirty="0"/>
          </a:p>
        </p:txBody>
      </p:sp>
      <p:sp>
        <p:nvSpPr>
          <p:cNvPr id="23" name="Shape 20"/>
          <p:cNvSpPr/>
          <p:nvPr/>
        </p:nvSpPr>
        <p:spPr>
          <a:xfrm>
            <a:off x="5577840" y="361188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1"/>
          <p:cNvSpPr/>
          <p:nvPr/>
        </p:nvSpPr>
        <p:spPr>
          <a:xfrm>
            <a:off x="5577840" y="3611880"/>
            <a:ext cx="73152" cy="777240"/>
          </a:xfrm>
          <a:prstGeom prst="rect">
            <a:avLst/>
          </a:prstGeom>
          <a:solidFill>
            <a:srgbClr val="00B67A"/>
          </a:solidFill>
          <a:ln w="12700">
            <a:solidFill>
              <a:srgbClr val="00B67A"/>
            </a:solidFill>
            <a:prstDash val="solid"/>
          </a:ln>
        </p:spPr>
        <p:txBody>
          <a:bodyPr/>
          <a:lstStyle/>
          <a:p>
            <a:endParaRPr lang="en-US"/>
          </a:p>
        </p:txBody>
      </p:sp>
      <p:sp>
        <p:nvSpPr>
          <p:cNvPr id="25" name="Text 22"/>
          <p:cNvSpPr/>
          <p:nvPr/>
        </p:nvSpPr>
        <p:spPr>
          <a:xfrm>
            <a:off x="5715000" y="365760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France</a:t>
            </a:r>
            <a:endParaRPr lang="en-US" sz="1200" dirty="0"/>
          </a:p>
        </p:txBody>
      </p:sp>
      <p:sp>
        <p:nvSpPr>
          <p:cNvPr id="26" name="Text 23"/>
          <p:cNvSpPr/>
          <p:nvPr/>
        </p:nvSpPr>
        <p:spPr>
          <a:xfrm>
            <a:off x="7315200" y="3657600"/>
            <a:ext cx="1371600" cy="274320"/>
          </a:xfrm>
          <a:prstGeom prst="rect">
            <a:avLst/>
          </a:prstGeom>
          <a:noFill/>
          <a:ln/>
        </p:spPr>
        <p:txBody>
          <a:bodyPr wrap="square" rtlCol="0" anchor="ctr"/>
          <a:lstStyle/>
          <a:p>
            <a:pPr marL="0" indent="0" algn="r">
              <a:buNone/>
            </a:pPr>
            <a:r>
              <a:rPr lang="en-US" sz="1000" b="1" dirty="0">
                <a:solidFill>
                  <a:srgbClr val="00B67A"/>
                </a:solidFill>
                <a:latin typeface="Calibri" pitchFamily="34" charset="0"/>
                <a:ea typeface="Calibri" pitchFamily="34" charset="-122"/>
                <a:cs typeface="Calibri" pitchFamily="34" charset="-120"/>
              </a:rPr>
              <a:t>#10 by orders</a:t>
            </a:r>
            <a:endParaRPr lang="en-US" sz="1000" dirty="0"/>
          </a:p>
        </p:txBody>
      </p:sp>
      <p:sp>
        <p:nvSpPr>
          <p:cNvPr id="27" name="Text 24"/>
          <p:cNvSpPr/>
          <p:nvPr/>
        </p:nvSpPr>
        <p:spPr>
          <a:xfrm>
            <a:off x="5715000" y="395935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44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€16.3K revenue</a:t>
            </a:r>
            <a:endParaRPr lang="en-US" sz="1000" dirty="0"/>
          </a:p>
        </p:txBody>
      </p:sp>
      <p:sp>
        <p:nvSpPr>
          <p:cNvPr id="28" name="Shape 25"/>
          <p:cNvSpPr/>
          <p:nvPr/>
        </p:nvSpPr>
        <p:spPr>
          <a:xfrm>
            <a:off x="320040" y="4572000"/>
            <a:ext cx="8503920" cy="411480"/>
          </a:xfrm>
          <a:prstGeom prst="rect">
            <a:avLst/>
          </a:prstGeom>
          <a:solidFill>
            <a:srgbClr val="EAF7EF"/>
          </a:solidFill>
          <a:ln w="12700">
            <a:solidFill>
              <a:srgbClr val="00B67A"/>
            </a:solidFill>
            <a:prstDash val="solid"/>
          </a:ln>
        </p:spPr>
        <p:txBody>
          <a:bodyPr/>
          <a:lstStyle/>
          <a:p>
            <a:endParaRPr lang="en-US"/>
          </a:p>
        </p:txBody>
      </p:sp>
      <p:sp>
        <p:nvSpPr>
          <p:cNvPr id="29" name="Text 26"/>
          <p:cNvSpPr/>
          <p:nvPr/>
        </p:nvSpPr>
        <p:spPr>
          <a:xfrm>
            <a:off x="457200" y="4572000"/>
            <a:ext cx="8321040" cy="411480"/>
          </a:xfrm>
          <a:prstGeom prst="rect">
            <a:avLst/>
          </a:prstGeom>
          <a:noFill/>
          <a:ln/>
        </p:spPr>
        <p:txBody>
          <a:bodyPr wrap="square" rtlCol="0" anchor="ctr"/>
          <a:lstStyle/>
          <a:p>
            <a:pPr marL="0" indent="0">
              <a:buNone/>
            </a:pPr>
            <a:r>
              <a:rPr lang="en-US" sz="1100" dirty="0">
                <a:solidFill>
                  <a:srgbClr val="007A52"/>
                </a:solidFill>
                <a:latin typeface="Calibri" pitchFamily="34" charset="0"/>
                <a:ea typeface="Calibri" pitchFamily="34" charset="-122"/>
                <a:cs typeface="Calibri" pitchFamily="34" charset="-120"/>
              </a:rPr>
              <a:t>▶  Spain ranks 6th by orders but 3rd by revenue  -  Spanish customers skew toward premium products. Opportunity for targeted premium marketing.</a:t>
            </a:r>
            <a:endParaRPr lang="en-US" sz="1100" dirty="0"/>
          </a:p>
        </p:txBody>
      </p:sp>
      <p:sp>
        <p:nvSpPr>
          <p:cNvPr id="30" name="Text 27"/>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1A2E"/>
          </a:solidFill>
          <a:ln w="12700">
            <a:solidFill>
              <a:srgbClr val="1A1A2E"/>
            </a:solidFill>
            <a:prstDash val="solid"/>
          </a:ln>
        </p:spPr>
        <p:txBody>
          <a:bodyPr/>
          <a:lstStyle/>
          <a:p>
            <a:endParaRPr lang="en-US"/>
          </a:p>
        </p:txBody>
      </p:sp>
      <p:sp>
        <p:nvSpPr>
          <p:cNvPr id="3" name="Shape 1"/>
          <p:cNvSpPr/>
          <p:nvPr/>
        </p:nvSpPr>
        <p:spPr>
          <a:xfrm>
            <a:off x="0" y="0"/>
            <a:ext cx="164592" cy="91440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Q3  -  SELLER QUALITY &amp; RETURN RISK</a:t>
            </a:r>
            <a:endParaRPr lang="en-US" sz="2000" dirty="0"/>
          </a:p>
        </p:txBody>
      </p:sp>
      <p:sp>
        <p:nvSpPr>
          <p:cNvPr id="5" name="Shape 3"/>
          <p:cNvSpPr/>
          <p:nvPr/>
        </p:nvSpPr>
        <p:spPr>
          <a:xfrm>
            <a:off x="7132320" y="182880"/>
            <a:ext cx="1645920" cy="548640"/>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Excel</a:t>
            </a:r>
            <a:endParaRPr lang="en-US" sz="1000" dirty="0"/>
          </a:p>
        </p:txBody>
      </p:sp>
      <p:sp>
        <p:nvSpPr>
          <p:cNvPr id="7" name="Shape 5"/>
          <p:cNvSpPr/>
          <p:nvPr/>
        </p:nvSpPr>
        <p:spPr>
          <a:xfrm>
            <a:off x="32004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320040" y="1005840"/>
            <a:ext cx="2606040" cy="64008"/>
          </a:xfrm>
          <a:prstGeom prst="rect">
            <a:avLst/>
          </a:prstGeom>
          <a:solidFill>
            <a:srgbClr val="C0392B"/>
          </a:solidFill>
          <a:ln w="12700">
            <a:solidFill>
              <a:srgbClr val="C0392B"/>
            </a:solidFill>
            <a:prstDash val="solid"/>
          </a:ln>
        </p:spPr>
        <p:txBody>
          <a:bodyPr/>
          <a:lstStyle/>
          <a:p>
            <a:endParaRPr lang="en-US"/>
          </a:p>
        </p:txBody>
      </p:sp>
      <p:sp>
        <p:nvSpPr>
          <p:cNvPr id="9" name="Text 7"/>
          <p:cNvSpPr/>
          <p:nvPr/>
        </p:nvSpPr>
        <p:spPr>
          <a:xfrm>
            <a:off x="320040" y="1069848"/>
            <a:ext cx="2606040" cy="50292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83</a:t>
            </a:r>
            <a:endParaRPr lang="en-US" sz="2200" dirty="0"/>
          </a:p>
        </p:txBody>
      </p:sp>
      <p:sp>
        <p:nvSpPr>
          <p:cNvPr id="10" name="Text 8"/>
          <p:cNvSpPr/>
          <p:nvPr/>
        </p:nvSpPr>
        <p:spPr>
          <a:xfrm>
            <a:off x="320040" y="1532467"/>
            <a:ext cx="2606040" cy="278045"/>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Total Returns</a:t>
            </a:r>
            <a:endParaRPr lang="en-US" sz="1000" dirty="0"/>
          </a:p>
        </p:txBody>
      </p:sp>
      <p:sp>
        <p:nvSpPr>
          <p:cNvPr id="11" name="Shape 9"/>
          <p:cNvSpPr/>
          <p:nvPr/>
        </p:nvSpPr>
        <p:spPr>
          <a:xfrm>
            <a:off x="315468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154680" y="1005840"/>
            <a:ext cx="2606040" cy="64008"/>
          </a:xfrm>
          <a:prstGeom prst="rect">
            <a:avLst/>
          </a:prstGeom>
          <a:solidFill>
            <a:srgbClr val="C0392B"/>
          </a:solidFill>
          <a:ln w="12700">
            <a:solidFill>
              <a:srgbClr val="C0392B"/>
            </a:solidFill>
            <a:prstDash val="solid"/>
          </a:ln>
        </p:spPr>
        <p:txBody>
          <a:bodyPr/>
          <a:lstStyle/>
          <a:p>
            <a:endParaRPr lang="en-US"/>
          </a:p>
        </p:txBody>
      </p:sp>
      <p:sp>
        <p:nvSpPr>
          <p:cNvPr id="13" name="Text 11"/>
          <p:cNvSpPr/>
          <p:nvPr/>
        </p:nvSpPr>
        <p:spPr>
          <a:xfrm>
            <a:off x="3154680" y="1069848"/>
            <a:ext cx="2606040" cy="50292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3.87</a:t>
            </a:r>
            <a:endParaRPr lang="en-US" sz="2200" dirty="0"/>
          </a:p>
        </p:txBody>
      </p:sp>
      <p:sp>
        <p:nvSpPr>
          <p:cNvPr id="14" name="Text 12"/>
          <p:cNvSpPr/>
          <p:nvPr/>
        </p:nvSpPr>
        <p:spPr>
          <a:xfrm>
            <a:off x="3154680" y="1463040"/>
            <a:ext cx="2606040" cy="41148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Avg Seller Rating</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(Top Returners)</a:t>
            </a:r>
            <a:endParaRPr lang="en-US" sz="1000" dirty="0"/>
          </a:p>
        </p:txBody>
      </p:sp>
      <p:sp>
        <p:nvSpPr>
          <p:cNvPr id="15" name="Shape 13"/>
          <p:cNvSpPr/>
          <p:nvPr/>
        </p:nvSpPr>
        <p:spPr>
          <a:xfrm>
            <a:off x="598932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5989320" y="1005840"/>
            <a:ext cx="2606040" cy="64008"/>
          </a:xfrm>
          <a:prstGeom prst="rect">
            <a:avLst/>
          </a:prstGeom>
          <a:solidFill>
            <a:srgbClr val="C0392B"/>
          </a:solidFill>
          <a:ln w="12700">
            <a:solidFill>
              <a:srgbClr val="C0392B"/>
            </a:solidFill>
            <a:prstDash val="solid"/>
          </a:ln>
        </p:spPr>
        <p:txBody>
          <a:bodyPr/>
          <a:lstStyle/>
          <a:p>
            <a:endParaRPr lang="en-US"/>
          </a:p>
        </p:txBody>
      </p:sp>
      <p:sp>
        <p:nvSpPr>
          <p:cNvPr id="17" name="Text 15"/>
          <p:cNvSpPr/>
          <p:nvPr/>
        </p:nvSpPr>
        <p:spPr>
          <a:xfrm>
            <a:off x="5989320" y="1069848"/>
            <a:ext cx="2606040" cy="50292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70%</a:t>
            </a:r>
            <a:endParaRPr lang="en-US" sz="2200" dirty="0"/>
          </a:p>
        </p:txBody>
      </p:sp>
      <p:sp>
        <p:nvSpPr>
          <p:cNvPr id="18" name="Text 16"/>
          <p:cNvSpPr/>
          <p:nvPr/>
        </p:nvSpPr>
        <p:spPr>
          <a:xfrm>
            <a:off x="5989320" y="1490472"/>
            <a:ext cx="2606040" cy="384048"/>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Bronze Tier</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Among Top Returners</a:t>
            </a:r>
            <a:endParaRPr lang="en-US" sz="1000" dirty="0"/>
          </a:p>
        </p:txBody>
      </p:sp>
      <p:graphicFrame>
        <p:nvGraphicFramePr>
          <p:cNvPr id="19" name="Chart 0"/>
          <p:cNvGraphicFramePr/>
          <p:nvPr/>
        </p:nvGraphicFramePr>
        <p:xfrm>
          <a:off x="320040" y="1965960"/>
          <a:ext cx="53035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52160" y="1965960"/>
            <a:ext cx="2971800" cy="29260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5852160" y="1965960"/>
            <a:ext cx="2971800" cy="384048"/>
          </a:xfrm>
          <a:prstGeom prst="rect">
            <a:avLst/>
          </a:prstGeom>
          <a:solidFill>
            <a:srgbClr val="C0392B"/>
          </a:solidFill>
          <a:ln w="12700">
            <a:solidFill>
              <a:srgbClr val="C0392B"/>
            </a:solidFill>
            <a:prstDash val="solid"/>
          </a:ln>
        </p:spPr>
        <p:txBody>
          <a:bodyPr/>
          <a:lstStyle/>
          <a:p>
            <a:endParaRPr lang="en-US"/>
          </a:p>
        </p:txBody>
      </p:sp>
      <p:sp>
        <p:nvSpPr>
          <p:cNvPr id="22" name="Text 19"/>
          <p:cNvSpPr/>
          <p:nvPr/>
        </p:nvSpPr>
        <p:spPr>
          <a:xfrm>
            <a:off x="5852160" y="1965960"/>
            <a:ext cx="2971800" cy="384048"/>
          </a:xfrm>
          <a:prstGeom prst="rect">
            <a:avLst/>
          </a:prstGeom>
          <a:noFill/>
          <a:ln/>
        </p:spPr>
        <p:txBody>
          <a:bodyPr wrap="square" lIns="0" tIns="0" rIns="0" bIns="0" rtlCol="0" anchor="ctr"/>
          <a:lstStyle/>
          <a:p>
            <a:pPr marL="0" indent="0" algn="ctr">
              <a:buNone/>
            </a:pPr>
            <a:r>
              <a:rPr lang="en-US" sz="1200" b="1" dirty="0">
                <a:solidFill>
                  <a:srgbClr val="FFFFFF"/>
                </a:solidFill>
              </a:rPr>
              <a:t>RISK SIGNALS</a:t>
            </a:r>
            <a:endParaRPr lang="en-US" sz="1200" dirty="0"/>
          </a:p>
        </p:txBody>
      </p:sp>
      <p:sp>
        <p:nvSpPr>
          <p:cNvPr id="23" name="Shape 20"/>
          <p:cNvSpPr/>
          <p:nvPr/>
        </p:nvSpPr>
        <p:spPr>
          <a:xfrm>
            <a:off x="5989320" y="2496312"/>
            <a:ext cx="164592" cy="164592"/>
          </a:xfrm>
          <a:prstGeom prst="rect">
            <a:avLst/>
          </a:prstGeom>
          <a:solidFill>
            <a:srgbClr val="C0392B"/>
          </a:solidFill>
          <a:ln w="12700">
            <a:solidFill>
              <a:srgbClr val="C0392B"/>
            </a:solidFill>
            <a:prstDash val="solid"/>
          </a:ln>
        </p:spPr>
        <p:txBody>
          <a:bodyPr/>
          <a:lstStyle/>
          <a:p>
            <a:endParaRPr lang="en-US"/>
          </a:p>
        </p:txBody>
      </p:sp>
      <p:sp>
        <p:nvSpPr>
          <p:cNvPr id="24" name="Text 21"/>
          <p:cNvSpPr/>
          <p:nvPr/>
        </p:nvSpPr>
        <p:spPr>
          <a:xfrm>
            <a:off x="6236208" y="245059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7 of top 10 returners are Bronze tier sellers</a:t>
            </a:r>
            <a:endParaRPr lang="en-US" sz="1050" dirty="0"/>
          </a:p>
        </p:txBody>
      </p:sp>
      <p:sp>
        <p:nvSpPr>
          <p:cNvPr id="25" name="Shape 22"/>
          <p:cNvSpPr/>
          <p:nvPr/>
        </p:nvSpPr>
        <p:spPr>
          <a:xfrm>
            <a:off x="5989320" y="3090672"/>
            <a:ext cx="164592" cy="164592"/>
          </a:xfrm>
          <a:prstGeom prst="rect">
            <a:avLst/>
          </a:prstGeom>
          <a:solidFill>
            <a:srgbClr val="C0392B"/>
          </a:solidFill>
          <a:ln w="12700">
            <a:solidFill>
              <a:srgbClr val="C0392B"/>
            </a:solidFill>
            <a:prstDash val="solid"/>
          </a:ln>
        </p:spPr>
        <p:txBody>
          <a:bodyPr/>
          <a:lstStyle/>
          <a:p>
            <a:endParaRPr lang="en-US"/>
          </a:p>
        </p:txBody>
      </p:sp>
      <p:sp>
        <p:nvSpPr>
          <p:cNvPr id="26" name="Text 23"/>
          <p:cNvSpPr/>
          <p:nvPr/>
        </p:nvSpPr>
        <p:spPr>
          <a:xfrm>
            <a:off x="6236208" y="304495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All Bronze sellers have avg rating below 4.0</a:t>
            </a:r>
            <a:endParaRPr lang="en-US" sz="1050" dirty="0"/>
          </a:p>
        </p:txBody>
      </p:sp>
      <p:sp>
        <p:nvSpPr>
          <p:cNvPr id="27" name="Shape 24"/>
          <p:cNvSpPr/>
          <p:nvPr/>
        </p:nvSpPr>
        <p:spPr>
          <a:xfrm>
            <a:off x="5989320" y="3685032"/>
            <a:ext cx="164592" cy="164592"/>
          </a:xfrm>
          <a:prstGeom prst="rect">
            <a:avLst/>
          </a:prstGeom>
          <a:solidFill>
            <a:srgbClr val="C0392B"/>
          </a:solidFill>
          <a:ln w="12700">
            <a:solidFill>
              <a:srgbClr val="C0392B"/>
            </a:solidFill>
            <a:prstDash val="solid"/>
          </a:ln>
        </p:spPr>
        <p:txBody>
          <a:bodyPr/>
          <a:lstStyle/>
          <a:p>
            <a:endParaRPr lang="en-US"/>
          </a:p>
        </p:txBody>
      </p:sp>
      <p:sp>
        <p:nvSpPr>
          <p:cNvPr id="28" name="Text 25"/>
          <p:cNvSpPr/>
          <p:nvPr/>
        </p:nvSpPr>
        <p:spPr>
          <a:xfrm>
            <a:off x="6236208" y="363931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Japan has 3 sellers in the top 10  -  geographic cluster</a:t>
            </a:r>
            <a:endParaRPr lang="en-US" sz="1050" dirty="0"/>
          </a:p>
        </p:txBody>
      </p:sp>
      <p:sp>
        <p:nvSpPr>
          <p:cNvPr id="29" name="Shape 26"/>
          <p:cNvSpPr/>
          <p:nvPr/>
        </p:nvSpPr>
        <p:spPr>
          <a:xfrm>
            <a:off x="5989320" y="4279392"/>
            <a:ext cx="164592" cy="164592"/>
          </a:xfrm>
          <a:prstGeom prst="rect">
            <a:avLst/>
          </a:prstGeom>
          <a:solidFill>
            <a:srgbClr val="C0392B"/>
          </a:solidFill>
          <a:ln w="12700">
            <a:solidFill>
              <a:srgbClr val="C0392B"/>
            </a:solidFill>
            <a:prstDash val="solid"/>
          </a:ln>
        </p:spPr>
        <p:txBody>
          <a:bodyPr/>
          <a:lstStyle/>
          <a:p>
            <a:endParaRPr lang="en-US"/>
          </a:p>
        </p:txBody>
      </p:sp>
      <p:sp>
        <p:nvSpPr>
          <p:cNvPr id="30" name="Text 27"/>
          <p:cNvSpPr/>
          <p:nvPr/>
        </p:nvSpPr>
        <p:spPr>
          <a:xfrm>
            <a:off x="6236208" y="423367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ChipSaver_US_15 is Silver tier but still top returner  -  anomaly to investigate</a:t>
            </a:r>
            <a:endParaRPr lang="en-US" sz="1050" dirty="0"/>
          </a:p>
        </p:txBody>
      </p:sp>
      <p:sp>
        <p:nvSpPr>
          <p:cNvPr id="31" name="Shape 28"/>
          <p:cNvSpPr/>
          <p:nvPr/>
        </p:nvSpPr>
        <p:spPr>
          <a:xfrm>
            <a:off x="5852160" y="4608576"/>
            <a:ext cx="2971800" cy="283464"/>
          </a:xfrm>
          <a:prstGeom prst="rect">
            <a:avLst/>
          </a:prstGeom>
          <a:solidFill>
            <a:srgbClr val="FEF2F2"/>
          </a:solidFill>
          <a:ln w="12700">
            <a:solidFill>
              <a:srgbClr val="C0392B"/>
            </a:solidFill>
            <a:prstDash val="solid"/>
          </a:ln>
        </p:spPr>
        <p:txBody>
          <a:bodyPr/>
          <a:lstStyle/>
          <a:p>
            <a:r>
              <a:rPr lang="en-US" sz="800" dirty="0">
                <a:solidFill>
                  <a:srgbClr val="C0392B"/>
                </a:solidFill>
                <a:latin typeface="Calibri" pitchFamily="34" charset="0"/>
                <a:ea typeface="Calibri" pitchFamily="34" charset="-122"/>
                <a:cs typeface="Calibri" pitchFamily="34" charset="-120"/>
              </a:rPr>
              <a:t>▶  Flag Bronze sellers with 3+ returns for quality review or listing restrictions</a:t>
            </a:r>
            <a:endParaRPr lang="en-US" sz="800" dirty="0"/>
          </a:p>
          <a:p>
            <a:endParaRPr lang="en-US" dirty="0"/>
          </a:p>
        </p:txBody>
      </p:sp>
      <p:sp>
        <p:nvSpPr>
          <p:cNvPr id="32" name="Text 29"/>
          <p:cNvSpPr/>
          <p:nvPr/>
        </p:nvSpPr>
        <p:spPr>
          <a:xfrm>
            <a:off x="6201832" y="4462272"/>
            <a:ext cx="2576407" cy="429768"/>
          </a:xfrm>
          <a:prstGeom prst="rect">
            <a:avLst/>
          </a:prstGeom>
          <a:noFill/>
          <a:ln/>
        </p:spPr>
        <p:txBody>
          <a:bodyPr wrap="square" rtlCol="0" anchor="ctr"/>
          <a:lstStyle/>
          <a:p>
            <a:pPr marL="0" indent="0">
              <a:buNone/>
            </a:pPr>
            <a:endParaRPr lang="en-US" sz="800" dirty="0"/>
          </a:p>
        </p:txBody>
      </p:sp>
      <p:sp>
        <p:nvSpPr>
          <p:cNvPr id="33" name="Text 30"/>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128863" y="-205740"/>
            <a:ext cx="9144000" cy="844634"/>
          </a:xfrm>
          <a:prstGeom prst="rect">
            <a:avLst/>
          </a:prstGeom>
          <a:solidFill>
            <a:srgbClr val="1A1A2E"/>
          </a:solidFill>
          <a:ln w="12700">
            <a:solidFill>
              <a:srgbClr val="1A1A2E"/>
            </a:solidFill>
            <a:prstDash val="solid"/>
          </a:ln>
        </p:spPr>
        <p:txBody>
          <a:bodyPr/>
          <a:lstStyle/>
          <a:p>
            <a:endParaRPr lang="en-US"/>
          </a:p>
        </p:txBody>
      </p:sp>
      <p:sp>
        <p:nvSpPr>
          <p:cNvPr id="3" name="Shape 1"/>
          <p:cNvSpPr/>
          <p:nvPr/>
        </p:nvSpPr>
        <p:spPr>
          <a:xfrm>
            <a:off x="-35729" y="-274320"/>
            <a:ext cx="164592" cy="91440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Q4  -  RETURN RATE BY PRODUCT CATEGORY</a:t>
            </a:r>
            <a:endParaRPr lang="en-US" dirty="0"/>
          </a:p>
        </p:txBody>
      </p:sp>
      <p:sp>
        <p:nvSpPr>
          <p:cNvPr id="5" name="Shape 3"/>
          <p:cNvSpPr/>
          <p:nvPr/>
        </p:nvSpPr>
        <p:spPr>
          <a:xfrm>
            <a:off x="7223760" y="81110"/>
            <a:ext cx="1645920" cy="548640"/>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Excel</a:t>
            </a:r>
            <a:endParaRPr lang="en-US" sz="1000" dirty="0"/>
          </a:p>
        </p:txBody>
      </p:sp>
      <p:graphicFrame>
        <p:nvGraphicFramePr>
          <p:cNvPr id="7" name="Chart 0"/>
          <p:cNvGraphicFramePr/>
          <p:nvPr>
            <p:extLst>
              <p:ext uri="{D42A27DB-BD31-4B8C-83A1-F6EECF244321}">
                <p14:modId xmlns:p14="http://schemas.microsoft.com/office/powerpoint/2010/main" val="1067132915"/>
              </p:ext>
            </p:extLst>
          </p:nvPr>
        </p:nvGraphicFramePr>
        <p:xfrm>
          <a:off x="359833" y="707474"/>
          <a:ext cx="4970779" cy="23557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845053578"/>
              </p:ext>
            </p:extLst>
          </p:nvPr>
        </p:nvGraphicFramePr>
        <p:xfrm>
          <a:off x="411480" y="3169920"/>
          <a:ext cx="4919132" cy="1813560"/>
        </p:xfrm>
        <a:graphic>
          <a:graphicData uri="http://schemas.openxmlformats.org/drawingml/2006/table">
            <a:tbl>
              <a:tblPr/>
              <a:tblGrid>
                <a:gridCol w="1883923">
                  <a:extLst>
                    <a:ext uri="{9D8B030D-6E8A-4147-A177-3AD203B41FA5}">
                      <a16:colId xmlns:a16="http://schemas.microsoft.com/office/drawing/2014/main" val="20000"/>
                    </a:ext>
                  </a:extLst>
                </a:gridCol>
                <a:gridCol w="941962">
                  <a:extLst>
                    <a:ext uri="{9D8B030D-6E8A-4147-A177-3AD203B41FA5}">
                      <a16:colId xmlns:a16="http://schemas.microsoft.com/office/drawing/2014/main" val="20001"/>
                    </a:ext>
                  </a:extLst>
                </a:gridCol>
                <a:gridCol w="941962">
                  <a:extLst>
                    <a:ext uri="{9D8B030D-6E8A-4147-A177-3AD203B41FA5}">
                      <a16:colId xmlns:a16="http://schemas.microsoft.com/office/drawing/2014/main" val="20002"/>
                    </a:ext>
                  </a:extLst>
                </a:gridCol>
                <a:gridCol w="1151285">
                  <a:extLst>
                    <a:ext uri="{9D8B030D-6E8A-4147-A177-3AD203B41FA5}">
                      <a16:colId xmlns:a16="http://schemas.microsoft.com/office/drawing/2014/main" val="20003"/>
                    </a:ext>
                  </a:extLst>
                </a:gridCol>
              </a:tblGrid>
              <a:tr h="148409">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A2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Returns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A2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Orders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A2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Return Rate</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Laptops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b="1" dirty="0">
                          <a:solidFill>
                            <a:srgbClr val="C0392B"/>
                          </a:solidFill>
                          <a:latin typeface="Calibri" pitchFamily="34" charset="0"/>
                          <a:ea typeface="Calibri" pitchFamily="34" charset="-122"/>
                          <a:cs typeface="Calibri" pitchFamily="34" charset="-120"/>
                        </a:rPr>
                        <a:t>24.7%</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Headphones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b="1" dirty="0">
                          <a:solidFill>
                            <a:srgbClr val="E07B39"/>
                          </a:solidFill>
                          <a:latin typeface="Calibri" pitchFamily="34" charset="0"/>
                          <a:ea typeface="Calibri" pitchFamily="34" charset="-122"/>
                          <a:cs typeface="Calibri" pitchFamily="34" charset="-120"/>
                        </a:rPr>
                        <a:t>17.2%</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Tablets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15.9%</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Smartphones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152</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Game Consoles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14.1%</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Smartwatches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B67A"/>
                          </a:solidFill>
                          <a:latin typeface="Calibri" pitchFamily="34" charset="0"/>
                          <a:ea typeface="Calibri" pitchFamily="34" charset="-122"/>
                          <a:cs typeface="Calibri" pitchFamily="34" charset="-120"/>
                        </a:rPr>
                        <a:t>13.6%</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5"/>
          <p:cNvSpPr/>
          <p:nvPr/>
        </p:nvSpPr>
        <p:spPr>
          <a:xfrm>
            <a:off x="5577840" y="1005840"/>
            <a:ext cx="3246120" cy="39776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6"/>
          <p:cNvSpPr/>
          <p:nvPr/>
        </p:nvSpPr>
        <p:spPr>
          <a:xfrm>
            <a:off x="5577840" y="992124"/>
            <a:ext cx="3246120" cy="384048"/>
          </a:xfrm>
          <a:prstGeom prst="rect">
            <a:avLst/>
          </a:prstGeom>
          <a:solidFill>
            <a:srgbClr val="E07B39"/>
          </a:solidFill>
          <a:ln w="12700">
            <a:solidFill>
              <a:srgbClr val="E07B39"/>
            </a:solidFill>
            <a:prstDash val="solid"/>
          </a:ln>
        </p:spPr>
        <p:txBody>
          <a:bodyPr/>
          <a:lstStyle/>
          <a:p>
            <a:endParaRPr lang="en-US"/>
          </a:p>
        </p:txBody>
      </p:sp>
      <p:sp>
        <p:nvSpPr>
          <p:cNvPr id="11" name="Text 7"/>
          <p:cNvSpPr/>
          <p:nvPr/>
        </p:nvSpPr>
        <p:spPr>
          <a:xfrm>
            <a:off x="5577840" y="1005840"/>
            <a:ext cx="3246120" cy="384048"/>
          </a:xfrm>
          <a:prstGeom prst="rect">
            <a:avLst/>
          </a:prstGeom>
          <a:noFill/>
          <a:ln/>
        </p:spPr>
        <p:txBody>
          <a:bodyPr wrap="square" lIns="0" tIns="0" rIns="0" bIns="0" rtlCol="0" anchor="ctr"/>
          <a:lstStyle/>
          <a:p>
            <a:pPr marL="0" indent="0" algn="ctr">
              <a:buNone/>
            </a:pPr>
            <a:r>
              <a:rPr lang="en-US" sz="1200" b="1" dirty="0">
                <a:solidFill>
                  <a:srgbClr val="FFFFFF"/>
                </a:solidFill>
              </a:rPr>
              <a:t>CRITICAL FINDING</a:t>
            </a:r>
            <a:endParaRPr lang="en-US" sz="1200" dirty="0"/>
          </a:p>
        </p:txBody>
      </p:sp>
      <p:sp>
        <p:nvSpPr>
          <p:cNvPr id="12" name="Text 8"/>
          <p:cNvSpPr/>
          <p:nvPr/>
        </p:nvSpPr>
        <p:spPr>
          <a:xfrm>
            <a:off x="5715000" y="1508760"/>
            <a:ext cx="2926080" cy="32004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Laptops  -  The Double Risk</a:t>
            </a:r>
            <a:endParaRPr lang="en-US" sz="1300" dirty="0"/>
          </a:p>
        </p:txBody>
      </p:sp>
      <p:sp>
        <p:nvSpPr>
          <p:cNvPr id="13" name="Text 9"/>
          <p:cNvSpPr/>
          <p:nvPr/>
        </p:nvSpPr>
        <p:spPr>
          <a:xfrm>
            <a:off x="5715000" y="1920240"/>
            <a:ext cx="2971800" cy="7772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Laptops are the #1 revenue category (€71K) but also carry the highest return rate at </a:t>
            </a:r>
            <a:r>
              <a:rPr lang="en-US" sz="1200" b="1" dirty="0">
                <a:solidFill>
                  <a:srgbClr val="C0392B"/>
                </a:solidFill>
                <a:latin typeface="Calibri" pitchFamily="34" charset="0"/>
                <a:ea typeface="Calibri" pitchFamily="34" charset="-122"/>
                <a:cs typeface="Calibri" pitchFamily="34" charset="-120"/>
              </a:rPr>
              <a:t>24.7%</a:t>
            </a:r>
            <a:r>
              <a:rPr lang="en-US" sz="1200" dirty="0">
                <a:solidFill>
                  <a:srgbClr val="1F2937"/>
                </a:solidFill>
                <a:latin typeface="Calibri" pitchFamily="34" charset="0"/>
                <a:ea typeface="Calibri" pitchFamily="34" charset="-122"/>
                <a:cs typeface="Calibri" pitchFamily="34" charset="-120"/>
              </a:rPr>
              <a:t>  -  nearly 1 in 4 laptops is returned.</a:t>
            </a:r>
            <a:endParaRPr lang="en-US" sz="1200" dirty="0"/>
          </a:p>
        </p:txBody>
      </p:sp>
      <p:sp>
        <p:nvSpPr>
          <p:cNvPr id="14" name="Text 10"/>
          <p:cNvSpPr/>
          <p:nvPr/>
        </p:nvSpPr>
        <p:spPr>
          <a:xfrm>
            <a:off x="5715000" y="2788920"/>
            <a:ext cx="297180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Implication:</a:t>
            </a:r>
            <a:endParaRPr lang="en-US" sz="1200" dirty="0"/>
          </a:p>
        </p:txBody>
      </p:sp>
      <p:sp>
        <p:nvSpPr>
          <p:cNvPr id="15" name="Text 11"/>
          <p:cNvSpPr/>
          <p:nvPr/>
        </p:nvSpPr>
        <p:spPr>
          <a:xfrm>
            <a:off x="5715000" y="3063240"/>
            <a:ext cx="2971800" cy="777240"/>
          </a:xfrm>
          <a:prstGeom prst="rect">
            <a:avLst/>
          </a:prstGeom>
          <a:noFill/>
          <a:ln/>
        </p:spPr>
        <p:txBody>
          <a:bodyPr wrap="square" rtlCol="0" anchor="ctr"/>
          <a:lstStyle/>
          <a:p>
            <a:pPr marL="0" indent="0">
              <a:buNone/>
            </a:pPr>
            <a:r>
              <a:rPr lang="en-US" sz="1100" dirty="0">
                <a:solidFill>
                  <a:srgbClr val="1F2937"/>
                </a:solidFill>
                <a:latin typeface="Calibri" pitchFamily="34" charset="0"/>
                <a:ea typeface="Calibri" pitchFamily="34" charset="-122"/>
                <a:cs typeface="Calibri" pitchFamily="34" charset="-120"/>
              </a:rPr>
              <a:t>Revenue is overstated if returns are not factored into net GMV calculations. The effective revenue contribution of Laptops may be closer to €53K after returns.</a:t>
            </a:r>
            <a:endParaRPr lang="en-US" sz="1100" dirty="0"/>
          </a:p>
        </p:txBody>
      </p:sp>
      <p:sp>
        <p:nvSpPr>
          <p:cNvPr id="16" name="Shape 12"/>
          <p:cNvSpPr/>
          <p:nvPr/>
        </p:nvSpPr>
        <p:spPr>
          <a:xfrm>
            <a:off x="5577840" y="4206240"/>
            <a:ext cx="3246120" cy="502920"/>
          </a:xfrm>
          <a:prstGeom prst="rect">
            <a:avLst/>
          </a:prstGeom>
          <a:solidFill>
            <a:srgbClr val="FEF2F2"/>
          </a:solidFill>
          <a:ln w="12700">
            <a:solidFill>
              <a:srgbClr val="C0392B"/>
            </a:solidFill>
            <a:prstDash val="solid"/>
          </a:ln>
        </p:spPr>
        <p:txBody>
          <a:bodyPr/>
          <a:lstStyle/>
          <a:p>
            <a:endParaRPr lang="en-US"/>
          </a:p>
        </p:txBody>
      </p:sp>
      <p:sp>
        <p:nvSpPr>
          <p:cNvPr id="17" name="Text 13"/>
          <p:cNvSpPr/>
          <p:nvPr/>
        </p:nvSpPr>
        <p:spPr>
          <a:xfrm>
            <a:off x="5669280" y="4206240"/>
            <a:ext cx="3063240" cy="502920"/>
          </a:xfrm>
          <a:prstGeom prst="rect">
            <a:avLst/>
          </a:prstGeom>
          <a:noFill/>
          <a:ln/>
        </p:spPr>
        <p:txBody>
          <a:bodyPr wrap="square"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Investigate Laptop return reasons  -  likely linked to specific Bronze sellers or Fair-grade listings</a:t>
            </a:r>
            <a:endParaRPr lang="en-US" sz="1000" dirty="0"/>
          </a:p>
        </p:txBody>
      </p:sp>
      <p:sp>
        <p:nvSpPr>
          <p:cNvPr id="18" name="Text 14"/>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1A2E"/>
          </a:solidFill>
          <a:ln w="12700">
            <a:solidFill>
              <a:srgbClr val="1A1A2E"/>
            </a:solidFill>
            <a:prstDash val="solid"/>
          </a:ln>
        </p:spPr>
        <p:txBody>
          <a:bodyPr/>
          <a:lstStyle/>
          <a:p>
            <a:endParaRPr lang="en-US"/>
          </a:p>
        </p:txBody>
      </p:sp>
      <p:sp>
        <p:nvSpPr>
          <p:cNvPr id="3" name="Shape 1"/>
          <p:cNvSpPr/>
          <p:nvPr/>
        </p:nvSpPr>
        <p:spPr>
          <a:xfrm>
            <a:off x="0" y="0"/>
            <a:ext cx="164592" cy="914400"/>
          </a:xfrm>
          <a:prstGeom prst="rect">
            <a:avLst/>
          </a:prstGeom>
          <a:solidFill>
            <a:srgbClr val="F39C12"/>
          </a:solidFill>
          <a:ln w="12700">
            <a:solidFill>
              <a:srgbClr val="F39C12"/>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Q5  -  TOP SELLER PERFORMANCE (2023-2025)</a:t>
            </a:r>
            <a:endParaRPr lang="en-US" sz="2000" dirty="0"/>
          </a:p>
        </p:txBody>
      </p:sp>
      <p:sp>
        <p:nvSpPr>
          <p:cNvPr id="5" name="Shape 3"/>
          <p:cNvSpPr/>
          <p:nvPr/>
        </p:nvSpPr>
        <p:spPr>
          <a:xfrm>
            <a:off x="7132320" y="182880"/>
            <a:ext cx="1645920" cy="548640"/>
          </a:xfrm>
          <a:prstGeom prst="rect">
            <a:avLst/>
          </a:prstGeom>
          <a:solidFill>
            <a:srgbClr val="F39C12"/>
          </a:solidFill>
          <a:ln w="12700">
            <a:solidFill>
              <a:srgbClr val="F39C12"/>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Power BI</a:t>
            </a:r>
            <a:endParaRPr lang="en-US" sz="1000" dirty="0"/>
          </a:p>
        </p:txBody>
      </p:sp>
      <p:graphicFrame>
        <p:nvGraphicFramePr>
          <p:cNvPr id="7" name="Chart 0"/>
          <p:cNvGraphicFramePr/>
          <p:nvPr/>
        </p:nvGraphicFramePr>
        <p:xfrm>
          <a:off x="320040" y="1005840"/>
          <a:ext cx="53035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852160" y="1005840"/>
            <a:ext cx="2971800" cy="8229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5852160" y="1005840"/>
            <a:ext cx="502920" cy="822960"/>
          </a:xfrm>
          <a:prstGeom prst="rect">
            <a:avLst/>
          </a:prstGeom>
          <a:solidFill>
            <a:srgbClr val="F39C12"/>
          </a:solidFill>
          <a:ln w="12700">
            <a:solidFill>
              <a:srgbClr val="F39C12"/>
            </a:solidFill>
            <a:prstDash val="solid"/>
          </a:ln>
        </p:spPr>
        <p:txBody>
          <a:bodyPr/>
          <a:lstStyle/>
          <a:p>
            <a:endParaRPr lang="en-US"/>
          </a:p>
        </p:txBody>
      </p:sp>
      <p:sp>
        <p:nvSpPr>
          <p:cNvPr id="10" name="Text 7"/>
          <p:cNvSpPr/>
          <p:nvPr/>
        </p:nvSpPr>
        <p:spPr>
          <a:xfrm>
            <a:off x="5852160" y="1005840"/>
            <a:ext cx="502920" cy="822960"/>
          </a:xfrm>
          <a:prstGeom prst="rect">
            <a:avLst/>
          </a:prstGeom>
          <a:noFill/>
          <a:ln/>
        </p:spPr>
        <p:txBody>
          <a:bodyPr wrap="square" lIns="0" tIns="0" rIns="0" bIns="0" rtlCol="0" anchor="ctr"/>
          <a:lstStyle/>
          <a:p>
            <a:pPr marL="0" indent="0" algn="ctr">
              <a:buNone/>
            </a:pPr>
            <a:r>
              <a:rPr lang="en-US" sz="1000" b="1" dirty="0">
                <a:solidFill>
                  <a:srgbClr val="FFFFFF"/>
                </a:solidFill>
              </a:rPr>
              <a:t>GOLD</a:t>
            </a:r>
            <a:endParaRPr lang="en-US" sz="1000" dirty="0"/>
          </a:p>
        </p:txBody>
      </p:sp>
      <p:sp>
        <p:nvSpPr>
          <p:cNvPr id="11" name="Text 8"/>
          <p:cNvSpPr/>
          <p:nvPr/>
        </p:nvSpPr>
        <p:spPr>
          <a:xfrm>
            <a:off x="6446520" y="1234440"/>
            <a:ext cx="2240280" cy="365760"/>
          </a:xfrm>
          <a:prstGeom prst="rect">
            <a:avLst/>
          </a:prstGeom>
          <a:noFill/>
          <a:ln/>
        </p:spPr>
        <p:txBody>
          <a:bodyPr wrap="square" rtlCol="0" anchor="ctr"/>
          <a:lstStyle/>
          <a:p>
            <a:pPr marL="0" indent="0">
              <a:buNone/>
            </a:pPr>
            <a:r>
              <a:rPr lang="en-US" sz="1600" b="1" dirty="0">
                <a:solidFill>
                  <a:srgbClr val="F39C12"/>
                </a:solidFill>
                <a:latin typeface="Calibri" pitchFamily="34" charset="0"/>
                <a:ea typeface="Calibri" pitchFamily="34" charset="-122"/>
                <a:cs typeface="Calibri" pitchFamily="34" charset="-120"/>
              </a:rPr>
              <a:t>62 orders (51%)</a:t>
            </a:r>
            <a:endParaRPr lang="en-US" sz="1600" dirty="0"/>
          </a:p>
        </p:txBody>
      </p:sp>
      <p:sp>
        <p:nvSpPr>
          <p:cNvPr id="12" name="Shape 9"/>
          <p:cNvSpPr/>
          <p:nvPr/>
        </p:nvSpPr>
        <p:spPr>
          <a:xfrm>
            <a:off x="5852160" y="1965960"/>
            <a:ext cx="2971800" cy="8229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0"/>
          <p:cNvSpPr/>
          <p:nvPr/>
        </p:nvSpPr>
        <p:spPr>
          <a:xfrm>
            <a:off x="5852160" y="1965960"/>
            <a:ext cx="502920" cy="822960"/>
          </a:xfrm>
          <a:prstGeom prst="rect">
            <a:avLst/>
          </a:prstGeom>
          <a:solidFill>
            <a:srgbClr val="95A5A6"/>
          </a:solidFill>
          <a:ln w="12700">
            <a:solidFill>
              <a:srgbClr val="95A5A6"/>
            </a:solidFill>
            <a:prstDash val="solid"/>
          </a:ln>
        </p:spPr>
        <p:txBody>
          <a:bodyPr/>
          <a:lstStyle/>
          <a:p>
            <a:endParaRPr lang="en-US"/>
          </a:p>
        </p:txBody>
      </p:sp>
      <p:sp>
        <p:nvSpPr>
          <p:cNvPr id="14" name="Text 11"/>
          <p:cNvSpPr/>
          <p:nvPr/>
        </p:nvSpPr>
        <p:spPr>
          <a:xfrm>
            <a:off x="5852160" y="1965960"/>
            <a:ext cx="502920" cy="822960"/>
          </a:xfrm>
          <a:prstGeom prst="rect">
            <a:avLst/>
          </a:prstGeom>
          <a:noFill/>
          <a:ln/>
        </p:spPr>
        <p:txBody>
          <a:bodyPr wrap="square" lIns="0" tIns="0" rIns="0" bIns="0" rtlCol="0" anchor="ctr"/>
          <a:lstStyle/>
          <a:p>
            <a:pPr marL="0" indent="0" algn="ctr">
              <a:buNone/>
            </a:pPr>
            <a:r>
              <a:rPr lang="en-US" sz="1000" b="1" dirty="0">
                <a:solidFill>
                  <a:srgbClr val="FFFFFF"/>
                </a:solidFill>
              </a:rPr>
              <a:t>SILVER</a:t>
            </a:r>
            <a:endParaRPr lang="en-US" sz="1000" dirty="0"/>
          </a:p>
        </p:txBody>
      </p:sp>
      <p:sp>
        <p:nvSpPr>
          <p:cNvPr id="15" name="Text 12"/>
          <p:cNvSpPr/>
          <p:nvPr/>
        </p:nvSpPr>
        <p:spPr>
          <a:xfrm>
            <a:off x="6446520" y="2194560"/>
            <a:ext cx="2240280" cy="365760"/>
          </a:xfrm>
          <a:prstGeom prst="rect">
            <a:avLst/>
          </a:prstGeom>
          <a:noFill/>
          <a:ln/>
        </p:spPr>
        <p:txBody>
          <a:bodyPr wrap="square" rtlCol="0" anchor="ctr"/>
          <a:lstStyle/>
          <a:p>
            <a:pPr marL="0" indent="0">
              <a:buNone/>
            </a:pPr>
            <a:r>
              <a:rPr lang="en-US" sz="1600" b="1" dirty="0">
                <a:solidFill>
                  <a:srgbClr val="95A5A6"/>
                </a:solidFill>
                <a:latin typeface="Calibri" pitchFamily="34" charset="0"/>
                <a:ea typeface="Calibri" pitchFamily="34" charset="-122"/>
                <a:cs typeface="Calibri" pitchFamily="34" charset="-120"/>
              </a:rPr>
              <a:t>36 orders (30%)</a:t>
            </a:r>
            <a:endParaRPr lang="en-US" sz="1600" dirty="0"/>
          </a:p>
        </p:txBody>
      </p:sp>
      <p:sp>
        <p:nvSpPr>
          <p:cNvPr id="16" name="Shape 13"/>
          <p:cNvSpPr/>
          <p:nvPr/>
        </p:nvSpPr>
        <p:spPr>
          <a:xfrm>
            <a:off x="5852160" y="2926080"/>
            <a:ext cx="2971800" cy="8229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4"/>
          <p:cNvSpPr/>
          <p:nvPr/>
        </p:nvSpPr>
        <p:spPr>
          <a:xfrm>
            <a:off x="5852160" y="2926080"/>
            <a:ext cx="502920" cy="822960"/>
          </a:xfrm>
          <a:prstGeom prst="rect">
            <a:avLst/>
          </a:prstGeom>
          <a:solidFill>
            <a:srgbClr val="A04000"/>
          </a:solidFill>
          <a:ln w="12700">
            <a:solidFill>
              <a:srgbClr val="A04000"/>
            </a:solidFill>
            <a:prstDash val="solid"/>
          </a:ln>
        </p:spPr>
        <p:txBody>
          <a:bodyPr/>
          <a:lstStyle/>
          <a:p>
            <a:endParaRPr lang="en-US"/>
          </a:p>
        </p:txBody>
      </p:sp>
      <p:sp>
        <p:nvSpPr>
          <p:cNvPr id="18" name="Text 15"/>
          <p:cNvSpPr/>
          <p:nvPr/>
        </p:nvSpPr>
        <p:spPr>
          <a:xfrm>
            <a:off x="5852160" y="2926080"/>
            <a:ext cx="502920" cy="822960"/>
          </a:xfrm>
          <a:prstGeom prst="rect">
            <a:avLst/>
          </a:prstGeom>
          <a:noFill/>
          <a:ln/>
        </p:spPr>
        <p:txBody>
          <a:bodyPr wrap="square" lIns="0" tIns="0" rIns="0" bIns="0" rtlCol="0" anchor="ctr"/>
          <a:lstStyle/>
          <a:p>
            <a:pPr marL="0" indent="0" algn="ctr">
              <a:buNone/>
            </a:pPr>
            <a:r>
              <a:rPr lang="en-US" sz="1000" b="1" dirty="0">
                <a:solidFill>
                  <a:srgbClr val="FFFFFF"/>
                </a:solidFill>
              </a:rPr>
              <a:t>BRONZE</a:t>
            </a:r>
            <a:endParaRPr lang="en-US" sz="1000" dirty="0"/>
          </a:p>
        </p:txBody>
      </p:sp>
      <p:sp>
        <p:nvSpPr>
          <p:cNvPr id="19" name="Text 16"/>
          <p:cNvSpPr/>
          <p:nvPr/>
        </p:nvSpPr>
        <p:spPr>
          <a:xfrm>
            <a:off x="6446520" y="3154680"/>
            <a:ext cx="2240280" cy="365760"/>
          </a:xfrm>
          <a:prstGeom prst="rect">
            <a:avLst/>
          </a:prstGeom>
          <a:noFill/>
          <a:ln/>
        </p:spPr>
        <p:txBody>
          <a:bodyPr wrap="square" rtlCol="0" anchor="ctr"/>
          <a:lstStyle/>
          <a:p>
            <a:pPr marL="0" indent="0">
              <a:buNone/>
            </a:pPr>
            <a:r>
              <a:rPr lang="en-US" sz="1600" b="1" dirty="0">
                <a:solidFill>
                  <a:srgbClr val="A04000"/>
                </a:solidFill>
                <a:latin typeface="Calibri" pitchFamily="34" charset="0"/>
                <a:ea typeface="Calibri" pitchFamily="34" charset="-122"/>
                <a:cs typeface="Calibri" pitchFamily="34" charset="-120"/>
              </a:rPr>
              <a:t>24 orders (19%)</a:t>
            </a:r>
            <a:endParaRPr lang="en-US" sz="1600" dirty="0"/>
          </a:p>
        </p:txBody>
      </p:sp>
      <p:sp>
        <p:nvSpPr>
          <p:cNvPr id="20" name="Shape 17"/>
          <p:cNvSpPr/>
          <p:nvPr/>
        </p:nvSpPr>
        <p:spPr>
          <a:xfrm>
            <a:off x="5852160" y="3931920"/>
            <a:ext cx="2971800" cy="10058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5852160" y="3931920"/>
            <a:ext cx="2971800" cy="347472"/>
          </a:xfrm>
          <a:prstGeom prst="rect">
            <a:avLst/>
          </a:prstGeom>
          <a:solidFill>
            <a:srgbClr val="1A1A2E"/>
          </a:solidFill>
          <a:ln w="12700">
            <a:solidFill>
              <a:srgbClr val="1A1A2E"/>
            </a:solidFill>
            <a:prstDash val="solid"/>
          </a:ln>
        </p:spPr>
        <p:txBody>
          <a:bodyPr/>
          <a:lstStyle/>
          <a:p>
            <a:endParaRPr lang="en-US"/>
          </a:p>
        </p:txBody>
      </p:sp>
      <p:sp>
        <p:nvSpPr>
          <p:cNvPr id="22" name="Text 19"/>
          <p:cNvSpPr/>
          <p:nvPr/>
        </p:nvSpPr>
        <p:spPr>
          <a:xfrm>
            <a:off x="5852160" y="3931920"/>
            <a:ext cx="2971800" cy="347472"/>
          </a:xfrm>
          <a:prstGeom prst="rect">
            <a:avLst/>
          </a:prstGeom>
          <a:noFill/>
          <a:ln/>
        </p:spPr>
        <p:txBody>
          <a:bodyPr wrap="square" lIns="0" tIns="0" rIns="0" bIns="0" rtlCol="0" anchor="ctr"/>
          <a:lstStyle/>
          <a:p>
            <a:pPr marL="0" indent="0" algn="ctr">
              <a:buNone/>
            </a:pPr>
            <a:r>
              <a:rPr lang="en-US" sz="1100" b="1" dirty="0">
                <a:solidFill>
                  <a:srgbClr val="F39C12"/>
                </a:solidFill>
              </a:rPr>
              <a:t>RISK FLAG</a:t>
            </a:r>
            <a:endParaRPr lang="en-US" sz="1100" dirty="0"/>
          </a:p>
        </p:txBody>
      </p:sp>
      <p:sp>
        <p:nvSpPr>
          <p:cNvPr id="23" name="Text 20"/>
          <p:cNvSpPr/>
          <p:nvPr/>
        </p:nvSpPr>
        <p:spPr>
          <a:xfrm>
            <a:off x="5943600" y="4315968"/>
            <a:ext cx="2743200" cy="594360"/>
          </a:xfrm>
          <a:prstGeom prst="rect">
            <a:avLst/>
          </a:prstGeom>
          <a:noFill/>
          <a:ln/>
        </p:spPr>
        <p:txBody>
          <a:bodyPr wrap="square" rtlCol="0" anchor="t"/>
          <a:lstStyle/>
          <a:p>
            <a:pPr marL="0" indent="0">
              <a:buNone/>
            </a:pPr>
            <a:r>
              <a:rPr lang="en-US" sz="900" dirty="0">
                <a:solidFill>
                  <a:srgbClr val="1F2937"/>
                </a:solidFill>
                <a:latin typeface="Calibri" pitchFamily="34" charset="0"/>
                <a:ea typeface="Calibri" pitchFamily="34" charset="-122"/>
                <a:cs typeface="Calibri" pitchFamily="34" charset="-120"/>
              </a:rPr>
              <a:t>ReStore_BE_48 &amp; EcoTech_JA_20 are Bronze sellers in the top 10 by volume  -  high output but elevated return risk requiring closer monitoring.</a:t>
            </a:r>
            <a:endParaRPr lang="en-US" sz="900" dirty="0"/>
          </a:p>
        </p:txBody>
      </p:sp>
      <p:sp>
        <p:nvSpPr>
          <p:cNvPr id="24" name="Text 21"/>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Q1  -  REVENUE BY PRODUCT CATEGORY</a:t>
            </a:r>
          </a:p>
        </p:txBody>
      </p:sp>
      <p:sp>
        <p:nvSpPr>
          <p:cNvPr id="5" name="Rectangle 4"/>
          <p:cNvSpPr/>
          <p:nvPr/>
        </p:nvSpPr>
        <p:spPr>
          <a:xfrm>
            <a:off x="7406640" y="182880"/>
            <a:ext cx="1554480" cy="54864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1 of 5</a:t>
            </a:r>
          </a:p>
        </p:txBody>
      </p:sp>
      <p:pic>
        <p:nvPicPr>
          <p:cNvPr id="6" name="Picture 5" descr="sql_page-1.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Q2  -  GEOGRAPHIC PERFORMANCE</a:t>
            </a:r>
          </a:p>
        </p:txBody>
      </p:sp>
      <p:sp>
        <p:nvSpPr>
          <p:cNvPr id="5" name="Rectangle 4"/>
          <p:cNvSpPr/>
          <p:nvPr/>
        </p:nvSpPr>
        <p:spPr>
          <a:xfrm>
            <a:off x="7406640" y="182880"/>
            <a:ext cx="1554480" cy="54864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2 of 5</a:t>
            </a:r>
          </a:p>
        </p:txBody>
      </p:sp>
      <p:pic>
        <p:nvPicPr>
          <p:cNvPr id="6" name="Picture 5" descr="sql_page-2.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Q3  -  SELLER RETURNS</a:t>
            </a:r>
          </a:p>
        </p:txBody>
      </p:sp>
      <p:sp>
        <p:nvSpPr>
          <p:cNvPr id="5" name="Rectangle 4"/>
          <p:cNvSpPr/>
          <p:nvPr/>
        </p:nvSpPr>
        <p:spPr>
          <a:xfrm>
            <a:off x="7406640" y="182880"/>
            <a:ext cx="1554480" cy="54864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3 of 5</a:t>
            </a:r>
          </a:p>
        </p:txBody>
      </p:sp>
      <p:pic>
        <p:nvPicPr>
          <p:cNvPr id="6" name="Picture 5" descr="sql_page-3.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Q4  -  CATEGORY RETURNS</a:t>
            </a:r>
          </a:p>
        </p:txBody>
      </p:sp>
      <p:sp>
        <p:nvSpPr>
          <p:cNvPr id="5" name="Rectangle 4"/>
          <p:cNvSpPr/>
          <p:nvPr/>
        </p:nvSpPr>
        <p:spPr>
          <a:xfrm>
            <a:off x="7406640" y="182880"/>
            <a:ext cx="1554480" cy="54864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4 of 5</a:t>
            </a:r>
          </a:p>
        </p:txBody>
      </p:sp>
      <p:pic>
        <p:nvPicPr>
          <p:cNvPr id="6" name="Picture 5" descr="sql_page-4.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Q5  -  TOP SELLER PERFORMANCE</a:t>
            </a:r>
          </a:p>
        </p:txBody>
      </p:sp>
      <p:sp>
        <p:nvSpPr>
          <p:cNvPr id="5" name="Rectangle 4"/>
          <p:cNvSpPr/>
          <p:nvPr/>
        </p:nvSpPr>
        <p:spPr>
          <a:xfrm>
            <a:off x="7406640" y="182880"/>
            <a:ext cx="1554480" cy="548640"/>
          </a:xfrm>
          <a:prstGeom prst="rect">
            <a:avLst/>
          </a:prstGeom>
          <a:solidFill>
            <a:srgbClr val="00B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5 of 5</a:t>
            </a:r>
          </a:p>
        </p:txBody>
      </p:sp>
      <p:pic>
        <p:nvPicPr>
          <p:cNvPr id="6" name="Picture 5" descr="sql_page-5.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1A2E"/>
          </a:solidFill>
          <a:ln w="12700">
            <a:solidFill>
              <a:srgbClr val="1A1A2E"/>
            </a:solidFill>
            <a:prstDash val="solid"/>
          </a:ln>
        </p:spPr>
        <p:txBody>
          <a:bodyPr/>
          <a:lstStyle/>
          <a:p>
            <a:endParaRPr lang="en-US"/>
          </a:p>
        </p:txBody>
      </p:sp>
      <p:sp>
        <p:nvSpPr>
          <p:cNvPr id="3" name="Shape 1"/>
          <p:cNvSpPr/>
          <p:nvPr/>
        </p:nvSpPr>
        <p:spPr>
          <a:xfrm>
            <a:off x="0" y="0"/>
            <a:ext cx="164592" cy="914400"/>
          </a:xfrm>
          <a:prstGeom prst="rect">
            <a:avLst/>
          </a:prstGeom>
          <a:solidFill>
            <a:srgbClr val="00B67A"/>
          </a:solidFill>
          <a:ln w="12700">
            <a:solidFill>
              <a:srgbClr val="00B67A"/>
            </a:solidFill>
            <a:prstDash val="solid"/>
          </a:ln>
        </p:spPr>
        <p:txBody>
          <a:bodyPr/>
          <a:lstStyle/>
          <a:p>
            <a:endParaRPr lang="en-US"/>
          </a:p>
        </p:txBody>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RECOMMENDATIONS &amp; NEXT STEPS</a:t>
            </a:r>
            <a:endParaRPr lang="en-US" sz="2000" dirty="0"/>
          </a:p>
        </p:txBody>
      </p:sp>
      <p:sp>
        <p:nvSpPr>
          <p:cNvPr id="5" name="Shape 3"/>
          <p:cNvSpPr/>
          <p:nvPr/>
        </p:nvSpPr>
        <p:spPr>
          <a:xfrm>
            <a:off x="320040" y="105156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051560"/>
            <a:ext cx="4160520" cy="54864"/>
          </a:xfrm>
          <a:prstGeom prst="rect">
            <a:avLst/>
          </a:prstGeom>
          <a:solidFill>
            <a:srgbClr val="00B67A"/>
          </a:solidFill>
          <a:ln w="12700">
            <a:solidFill>
              <a:srgbClr val="00B67A"/>
            </a:solidFill>
            <a:prstDash val="solid"/>
          </a:ln>
        </p:spPr>
        <p:txBody>
          <a:bodyPr/>
          <a:lstStyle/>
          <a:p>
            <a:endParaRPr lang="en-US"/>
          </a:p>
        </p:txBody>
      </p:sp>
      <p:sp>
        <p:nvSpPr>
          <p:cNvPr id="7" name="Shape 5"/>
          <p:cNvSpPr/>
          <p:nvPr/>
        </p:nvSpPr>
        <p:spPr>
          <a:xfrm>
            <a:off x="320040" y="1143000"/>
            <a:ext cx="457200" cy="457200"/>
          </a:xfrm>
          <a:prstGeom prst="rect">
            <a:avLst/>
          </a:prstGeom>
          <a:solidFill>
            <a:srgbClr val="00B67A"/>
          </a:solidFill>
          <a:ln w="12700">
            <a:solidFill>
              <a:srgbClr val="00B67A"/>
            </a:solidFill>
            <a:prstDash val="solid"/>
          </a:ln>
        </p:spPr>
        <p:txBody>
          <a:bodyPr/>
          <a:lstStyle/>
          <a:p>
            <a:endParaRPr lang="en-US"/>
          </a:p>
        </p:txBody>
      </p:sp>
      <p:sp>
        <p:nvSpPr>
          <p:cNvPr id="8" name="Text 6"/>
          <p:cNvSpPr/>
          <p:nvPr/>
        </p:nvSpPr>
        <p:spPr>
          <a:xfrm>
            <a:off x="320040" y="1143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9" name="Text 7"/>
          <p:cNvSpPr/>
          <p:nvPr/>
        </p:nvSpPr>
        <p:spPr>
          <a:xfrm>
            <a:off x="868680" y="116128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Prioritise Laptop Category</a:t>
            </a:r>
            <a:endParaRPr lang="en-US" sz="1300" dirty="0"/>
          </a:p>
        </p:txBody>
      </p:sp>
      <p:sp>
        <p:nvSpPr>
          <p:cNvPr id="10" name="Text 8"/>
          <p:cNvSpPr/>
          <p:nvPr/>
        </p:nvSpPr>
        <p:spPr>
          <a:xfrm>
            <a:off x="429768" y="167335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Laptops generate the highest revenue per transaction (€676 AOV). Back Market should invest in seller recruitment, listing quality, and marketing for this category. However, the 24.7% return rate must be addressed first through grade-quality enforcement.</a:t>
            </a:r>
            <a:endParaRPr lang="en-US" sz="1050" dirty="0"/>
          </a:p>
        </p:txBody>
      </p:sp>
      <p:sp>
        <p:nvSpPr>
          <p:cNvPr id="11" name="Shape 9"/>
          <p:cNvSpPr/>
          <p:nvPr/>
        </p:nvSpPr>
        <p:spPr>
          <a:xfrm>
            <a:off x="4754880" y="105156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754880" y="1051560"/>
            <a:ext cx="4160520" cy="54864"/>
          </a:xfrm>
          <a:prstGeom prst="rect">
            <a:avLst/>
          </a:prstGeom>
          <a:solidFill>
            <a:srgbClr val="E07B39"/>
          </a:solidFill>
          <a:ln w="12700">
            <a:solidFill>
              <a:srgbClr val="E07B39"/>
            </a:solidFill>
            <a:prstDash val="solid"/>
          </a:ln>
        </p:spPr>
        <p:txBody>
          <a:bodyPr/>
          <a:lstStyle/>
          <a:p>
            <a:endParaRPr lang="en-US"/>
          </a:p>
        </p:txBody>
      </p:sp>
      <p:sp>
        <p:nvSpPr>
          <p:cNvPr id="13" name="Shape 11"/>
          <p:cNvSpPr/>
          <p:nvPr/>
        </p:nvSpPr>
        <p:spPr>
          <a:xfrm>
            <a:off x="4754880" y="1143000"/>
            <a:ext cx="457200" cy="457200"/>
          </a:xfrm>
          <a:prstGeom prst="rect">
            <a:avLst/>
          </a:prstGeom>
          <a:solidFill>
            <a:srgbClr val="E07B39"/>
          </a:solidFill>
          <a:ln w="12700">
            <a:solidFill>
              <a:srgbClr val="E07B39"/>
            </a:solidFill>
            <a:prstDash val="solid"/>
          </a:ln>
        </p:spPr>
        <p:txBody>
          <a:bodyPr/>
          <a:lstStyle/>
          <a:p>
            <a:endParaRPr lang="en-US"/>
          </a:p>
        </p:txBody>
      </p:sp>
      <p:sp>
        <p:nvSpPr>
          <p:cNvPr id="14" name="Text 12"/>
          <p:cNvSpPr/>
          <p:nvPr/>
        </p:nvSpPr>
        <p:spPr>
          <a:xfrm>
            <a:off x="4754880" y="1143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5" name="Text 13"/>
          <p:cNvSpPr/>
          <p:nvPr/>
        </p:nvSpPr>
        <p:spPr>
          <a:xfrm>
            <a:off x="5303520" y="116128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Seller Quality Intervention</a:t>
            </a:r>
            <a:endParaRPr lang="en-US" sz="1300" dirty="0"/>
          </a:p>
        </p:txBody>
      </p:sp>
      <p:sp>
        <p:nvSpPr>
          <p:cNvPr id="16" name="Text 14"/>
          <p:cNvSpPr/>
          <p:nvPr/>
        </p:nvSpPr>
        <p:spPr>
          <a:xfrm>
            <a:off x="4864608" y="167335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Bronze tier sellers account for 70% of the highest-returning sellers. Implement mandatory quality audits for Bronze sellers with 3+ returns, consider temporary listing restrictions, and create incentive programmes to upgrade seller tier through performance improvement.</a:t>
            </a:r>
            <a:endParaRPr lang="en-US" sz="1050" dirty="0"/>
          </a:p>
        </p:txBody>
      </p:sp>
      <p:sp>
        <p:nvSpPr>
          <p:cNvPr id="17" name="Shape 15"/>
          <p:cNvSpPr/>
          <p:nvPr/>
        </p:nvSpPr>
        <p:spPr>
          <a:xfrm>
            <a:off x="320040" y="297180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20040" y="2971800"/>
            <a:ext cx="4160520" cy="54864"/>
          </a:xfrm>
          <a:prstGeom prst="rect">
            <a:avLst/>
          </a:prstGeom>
          <a:solidFill>
            <a:srgbClr val="F39C12"/>
          </a:solidFill>
          <a:ln w="12700">
            <a:solidFill>
              <a:srgbClr val="F39C12"/>
            </a:solidFill>
            <a:prstDash val="solid"/>
          </a:ln>
        </p:spPr>
        <p:txBody>
          <a:bodyPr/>
          <a:lstStyle/>
          <a:p>
            <a:endParaRPr lang="en-US"/>
          </a:p>
        </p:txBody>
      </p:sp>
      <p:sp>
        <p:nvSpPr>
          <p:cNvPr id="19" name="Shape 17"/>
          <p:cNvSpPr/>
          <p:nvPr/>
        </p:nvSpPr>
        <p:spPr>
          <a:xfrm>
            <a:off x="320040" y="3063240"/>
            <a:ext cx="457200" cy="457200"/>
          </a:xfrm>
          <a:prstGeom prst="rect">
            <a:avLst/>
          </a:prstGeom>
          <a:solidFill>
            <a:srgbClr val="F39C12"/>
          </a:solidFill>
          <a:ln w="12700">
            <a:solidFill>
              <a:srgbClr val="F39C12"/>
            </a:solidFill>
            <a:prstDash val="solid"/>
          </a:ln>
        </p:spPr>
        <p:txBody>
          <a:bodyPr/>
          <a:lstStyle/>
          <a:p>
            <a:endParaRPr lang="en-US"/>
          </a:p>
        </p:txBody>
      </p:sp>
      <p:sp>
        <p:nvSpPr>
          <p:cNvPr id="20" name="Text 18"/>
          <p:cNvSpPr/>
          <p:nvPr/>
        </p:nvSpPr>
        <p:spPr>
          <a:xfrm>
            <a:off x="320040" y="30632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21" name="Text 19"/>
          <p:cNvSpPr/>
          <p:nvPr/>
        </p:nvSpPr>
        <p:spPr>
          <a:xfrm>
            <a:off x="868680" y="308152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Target Spain for Premium Growth</a:t>
            </a:r>
            <a:endParaRPr lang="en-US" sz="1300" dirty="0"/>
          </a:p>
        </p:txBody>
      </p:sp>
      <p:sp>
        <p:nvSpPr>
          <p:cNvPr id="22" name="Text 20"/>
          <p:cNvSpPr/>
          <p:nvPr/>
        </p:nvSpPr>
        <p:spPr>
          <a:xfrm>
            <a:off x="429768" y="359359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Spain ranks 6th by orders but 3rd by revenue with the highest avg order value (€380). This signals a customer base that skews toward premium products. Dedicated Spanish-language marketing campaigns focused on Laptops and Smartphones could significantly increase GMV.</a:t>
            </a:r>
            <a:endParaRPr lang="en-US" sz="1050" dirty="0"/>
          </a:p>
        </p:txBody>
      </p:sp>
      <p:sp>
        <p:nvSpPr>
          <p:cNvPr id="23" name="Shape 21"/>
          <p:cNvSpPr/>
          <p:nvPr/>
        </p:nvSpPr>
        <p:spPr>
          <a:xfrm>
            <a:off x="4754880" y="297180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4754880" y="2971800"/>
            <a:ext cx="4160520" cy="54864"/>
          </a:xfrm>
          <a:prstGeom prst="rect">
            <a:avLst/>
          </a:prstGeom>
          <a:solidFill>
            <a:srgbClr val="2D6A9F"/>
          </a:solidFill>
          <a:ln w="12700">
            <a:solidFill>
              <a:srgbClr val="2D6A9F"/>
            </a:solidFill>
            <a:prstDash val="solid"/>
          </a:ln>
        </p:spPr>
        <p:txBody>
          <a:bodyPr/>
          <a:lstStyle/>
          <a:p>
            <a:endParaRPr lang="en-US"/>
          </a:p>
        </p:txBody>
      </p:sp>
      <p:sp>
        <p:nvSpPr>
          <p:cNvPr id="25" name="Shape 23"/>
          <p:cNvSpPr/>
          <p:nvPr/>
        </p:nvSpPr>
        <p:spPr>
          <a:xfrm>
            <a:off x="4754880" y="3063240"/>
            <a:ext cx="457200" cy="457200"/>
          </a:xfrm>
          <a:prstGeom prst="rect">
            <a:avLst/>
          </a:prstGeom>
          <a:solidFill>
            <a:srgbClr val="2D6A9F"/>
          </a:solidFill>
          <a:ln w="12700">
            <a:solidFill>
              <a:srgbClr val="2D6A9F"/>
            </a:solidFill>
            <a:prstDash val="solid"/>
          </a:ln>
        </p:spPr>
        <p:txBody>
          <a:bodyPr/>
          <a:lstStyle/>
          <a:p>
            <a:endParaRPr lang="en-US"/>
          </a:p>
        </p:txBody>
      </p:sp>
      <p:sp>
        <p:nvSpPr>
          <p:cNvPr id="26" name="Text 24"/>
          <p:cNvSpPr/>
          <p:nvPr/>
        </p:nvSpPr>
        <p:spPr>
          <a:xfrm>
            <a:off x="4754880" y="30632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7" name="Text 25"/>
          <p:cNvSpPr/>
          <p:nvPr/>
        </p:nvSpPr>
        <p:spPr>
          <a:xfrm>
            <a:off x="5303520" y="308152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Monitor Bronze Sellers in Top 10</a:t>
            </a:r>
            <a:endParaRPr lang="en-US" sz="1300" dirty="0"/>
          </a:p>
        </p:txBody>
      </p:sp>
      <p:sp>
        <p:nvSpPr>
          <p:cNvPr id="28" name="Text 26"/>
          <p:cNvSpPr/>
          <p:nvPr/>
        </p:nvSpPr>
        <p:spPr>
          <a:xfrm>
            <a:off x="4864608" y="359359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ReStore_BE_48 and EcoTech_JA_20 are Bronze tier sellers appearing in the top 10 by volume. High volume combined with elevated return risk creates significant GMV leakage. These sellers require enhanced monitoring and quality coaching.</a:t>
            </a:r>
            <a:endParaRPr lang="en-US" sz="1050" dirty="0"/>
          </a:p>
        </p:txBody>
      </p:sp>
      <p:sp>
        <p:nvSpPr>
          <p:cNvPr id="29" name="Text 27"/>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67A"/>
          </a:solidFill>
          <a:ln w="12700">
            <a:solidFill>
              <a:srgbClr val="00B67A"/>
            </a:solidFill>
            <a:prstDash val="solid"/>
          </a:ln>
        </p:spPr>
        <p:txBody>
          <a:bodyPr/>
          <a:lstStyle/>
          <a:p>
            <a:endParaRPr lang="en-US"/>
          </a:p>
        </p:txBody>
      </p:sp>
      <p:sp>
        <p:nvSpPr>
          <p:cNvPr id="3" name="Text 1"/>
          <p:cNvSpPr/>
          <p:nvPr/>
        </p:nvSpPr>
        <p:spPr>
          <a:xfrm>
            <a:off x="411480" y="320040"/>
            <a:ext cx="82296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TOOLS &amp; METHODOLOGY</a:t>
            </a:r>
            <a:endParaRPr lang="en-US" sz="2600" dirty="0"/>
          </a:p>
        </p:txBody>
      </p:sp>
      <p:sp>
        <p:nvSpPr>
          <p:cNvPr id="4" name="Shape 2"/>
          <p:cNvSpPr/>
          <p:nvPr/>
        </p:nvSpPr>
        <p:spPr>
          <a:xfrm>
            <a:off x="411480" y="960120"/>
            <a:ext cx="8321040" cy="36576"/>
          </a:xfrm>
          <a:prstGeom prst="rect">
            <a:avLst/>
          </a:prstGeom>
          <a:solidFill>
            <a:srgbClr val="00B67A"/>
          </a:solidFill>
          <a:ln w="12700">
            <a:solidFill>
              <a:srgbClr val="00B67A"/>
            </a:solidFill>
            <a:prstDash val="solid"/>
          </a:ln>
        </p:spPr>
        <p:txBody>
          <a:bodyPr/>
          <a:lstStyle/>
          <a:p>
            <a:endParaRPr lang="en-US"/>
          </a:p>
        </p:txBody>
      </p:sp>
      <p:sp>
        <p:nvSpPr>
          <p:cNvPr id="5" name="Shape 3"/>
          <p:cNvSpPr/>
          <p:nvPr/>
        </p:nvSpPr>
        <p:spPr>
          <a:xfrm>
            <a:off x="411480" y="1143000"/>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6" name="Shape 4"/>
          <p:cNvSpPr/>
          <p:nvPr/>
        </p:nvSpPr>
        <p:spPr>
          <a:xfrm>
            <a:off x="411480" y="1143000"/>
            <a:ext cx="1371600" cy="804672"/>
          </a:xfrm>
          <a:prstGeom prst="rect">
            <a:avLst/>
          </a:prstGeom>
          <a:solidFill>
            <a:srgbClr val="00B67A"/>
          </a:solidFill>
          <a:ln w="12700">
            <a:solidFill>
              <a:srgbClr val="00B67A"/>
            </a:solidFill>
            <a:prstDash val="solid"/>
          </a:ln>
        </p:spPr>
        <p:txBody>
          <a:bodyPr/>
          <a:lstStyle/>
          <a:p>
            <a:endParaRPr lang="en-US"/>
          </a:p>
        </p:txBody>
      </p:sp>
      <p:sp>
        <p:nvSpPr>
          <p:cNvPr id="7" name="Text 5"/>
          <p:cNvSpPr/>
          <p:nvPr/>
        </p:nvSpPr>
        <p:spPr>
          <a:xfrm>
            <a:off x="411480" y="1143000"/>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PostgreSQL</a:t>
            </a:r>
            <a:endParaRPr lang="en-US" sz="1300" dirty="0"/>
          </a:p>
        </p:txBody>
      </p:sp>
      <p:sp>
        <p:nvSpPr>
          <p:cNvPr id="8" name="Text 6"/>
          <p:cNvSpPr/>
          <p:nvPr/>
        </p:nvSpPr>
        <p:spPr>
          <a:xfrm>
            <a:off x="1920240" y="1197864"/>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Built 2-table schema (sellers + orders) with 60 sellers and 600 orders across 2023-2025. Wrote 5 business queries using SELECT, COUNT, SUM, LEFT JOIN, INNER JOIN, WHERE, GROUP BY, ORDER BY, and BETWEEN to answer real marketplace questions.</a:t>
            </a:r>
            <a:endParaRPr lang="en-US" sz="1100" dirty="0"/>
          </a:p>
        </p:txBody>
      </p:sp>
      <p:sp>
        <p:nvSpPr>
          <p:cNvPr id="9" name="Shape 7"/>
          <p:cNvSpPr/>
          <p:nvPr/>
        </p:nvSpPr>
        <p:spPr>
          <a:xfrm>
            <a:off x="411480" y="2075688"/>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0" name="Shape 8"/>
          <p:cNvSpPr/>
          <p:nvPr/>
        </p:nvSpPr>
        <p:spPr>
          <a:xfrm>
            <a:off x="411480" y="2075688"/>
            <a:ext cx="1371600" cy="804672"/>
          </a:xfrm>
          <a:prstGeom prst="rect">
            <a:avLst/>
          </a:prstGeom>
          <a:solidFill>
            <a:srgbClr val="217346"/>
          </a:solidFill>
          <a:ln w="12700">
            <a:solidFill>
              <a:srgbClr val="217346"/>
            </a:solidFill>
            <a:prstDash val="solid"/>
          </a:ln>
        </p:spPr>
        <p:txBody>
          <a:bodyPr/>
          <a:lstStyle/>
          <a:p>
            <a:endParaRPr lang="en-US"/>
          </a:p>
        </p:txBody>
      </p:sp>
      <p:sp>
        <p:nvSpPr>
          <p:cNvPr id="11" name="Text 9"/>
          <p:cNvSpPr/>
          <p:nvPr/>
        </p:nvSpPr>
        <p:spPr>
          <a:xfrm>
            <a:off x="411480" y="2075688"/>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Excel</a:t>
            </a:r>
            <a:endParaRPr lang="en-US" sz="1300" dirty="0"/>
          </a:p>
        </p:txBody>
      </p:sp>
      <p:sp>
        <p:nvSpPr>
          <p:cNvPr id="12" name="Text 10"/>
          <p:cNvSpPr/>
          <p:nvPr/>
        </p:nvSpPr>
        <p:spPr>
          <a:xfrm>
            <a:off x="1920240" y="2130552"/>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Imported SQL query results into 5 structured worksheets. Applied VLOOKUP, INDEX/MATCH, SUMIF, COUNTIF, RANK, and IF formulas. Used conditional formatting  -  data bars, color scales, and highlight rules  -  to surface patterns and communicate findings visually.</a:t>
            </a:r>
            <a:endParaRPr lang="en-US" sz="1100" dirty="0"/>
          </a:p>
        </p:txBody>
      </p:sp>
      <p:sp>
        <p:nvSpPr>
          <p:cNvPr id="13" name="Shape 11"/>
          <p:cNvSpPr/>
          <p:nvPr/>
        </p:nvSpPr>
        <p:spPr>
          <a:xfrm>
            <a:off x="411480" y="3008376"/>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4" name="Shape 12"/>
          <p:cNvSpPr/>
          <p:nvPr/>
        </p:nvSpPr>
        <p:spPr>
          <a:xfrm>
            <a:off x="411480" y="3008376"/>
            <a:ext cx="1371600" cy="804672"/>
          </a:xfrm>
          <a:prstGeom prst="rect">
            <a:avLst/>
          </a:prstGeom>
          <a:solidFill>
            <a:srgbClr val="F2C811"/>
          </a:solidFill>
          <a:ln w="12700">
            <a:solidFill>
              <a:srgbClr val="F2C811"/>
            </a:solidFill>
            <a:prstDash val="solid"/>
          </a:ln>
        </p:spPr>
        <p:txBody>
          <a:bodyPr/>
          <a:lstStyle/>
          <a:p>
            <a:endParaRPr lang="en-US"/>
          </a:p>
        </p:txBody>
      </p:sp>
      <p:sp>
        <p:nvSpPr>
          <p:cNvPr id="15" name="Text 13"/>
          <p:cNvSpPr/>
          <p:nvPr/>
        </p:nvSpPr>
        <p:spPr>
          <a:xfrm>
            <a:off x="411480" y="3008376"/>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Power BI</a:t>
            </a:r>
            <a:endParaRPr lang="en-US" sz="1300" dirty="0"/>
          </a:p>
        </p:txBody>
      </p:sp>
      <p:sp>
        <p:nvSpPr>
          <p:cNvPr id="16" name="Text 14"/>
          <p:cNvSpPr/>
          <p:nvPr/>
        </p:nvSpPr>
        <p:spPr>
          <a:xfrm>
            <a:off x="1920240" y="3063240"/>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Built a 4-page interactive dashboard covering Revenue, Geography, Returns, and Seller Performance. Applied Power Query for data transformation, set correct data types, and used slicers and cross-filtering for interactivity.</a:t>
            </a:r>
            <a:endParaRPr lang="en-US" sz="1100" dirty="0"/>
          </a:p>
        </p:txBody>
      </p:sp>
      <p:sp>
        <p:nvSpPr>
          <p:cNvPr id="17" name="Shape 15"/>
          <p:cNvSpPr/>
          <p:nvPr/>
        </p:nvSpPr>
        <p:spPr>
          <a:xfrm>
            <a:off x="411480" y="3941064"/>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8" name="Shape 16"/>
          <p:cNvSpPr/>
          <p:nvPr/>
        </p:nvSpPr>
        <p:spPr>
          <a:xfrm>
            <a:off x="411480" y="3941064"/>
            <a:ext cx="1371600" cy="804672"/>
          </a:xfrm>
          <a:prstGeom prst="rect">
            <a:avLst/>
          </a:prstGeom>
          <a:solidFill>
            <a:srgbClr val="D04423"/>
          </a:solidFill>
          <a:ln w="12700">
            <a:solidFill>
              <a:srgbClr val="D04423"/>
            </a:solidFill>
            <a:prstDash val="solid"/>
          </a:ln>
        </p:spPr>
        <p:txBody>
          <a:bodyPr/>
          <a:lstStyle/>
          <a:p>
            <a:endParaRPr lang="en-US"/>
          </a:p>
        </p:txBody>
      </p:sp>
      <p:sp>
        <p:nvSpPr>
          <p:cNvPr id="19" name="Text 17"/>
          <p:cNvSpPr/>
          <p:nvPr/>
        </p:nvSpPr>
        <p:spPr>
          <a:xfrm>
            <a:off x="411480" y="3941064"/>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PowerPoint</a:t>
            </a:r>
            <a:endParaRPr lang="en-US" sz="1300" dirty="0"/>
          </a:p>
        </p:txBody>
      </p:sp>
      <p:sp>
        <p:nvSpPr>
          <p:cNvPr id="20" name="Text 18"/>
          <p:cNvSpPr/>
          <p:nvPr/>
        </p:nvSpPr>
        <p:spPr>
          <a:xfrm>
            <a:off x="1920240" y="3995928"/>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Translated data insights into an executive-ready presentation. Structured each slide around a business question with insight, implication, and recommendation  -  reflecting real analyst communication standards.</a:t>
            </a:r>
            <a:endParaRPr lang="en-US" sz="1100" dirty="0"/>
          </a:p>
        </p:txBody>
      </p:sp>
      <p:sp>
        <p:nvSpPr>
          <p:cNvPr id="21" name="Text 19"/>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67A"/>
          </a:solidFill>
          <a:ln w="12700">
            <a:solidFill>
              <a:srgbClr val="00B67A"/>
            </a:solidFill>
            <a:prstDash val="solid"/>
          </a:ln>
        </p:spPr>
        <p:txBody>
          <a:bodyPr/>
          <a:lstStyle/>
          <a:p>
            <a:endParaRPr lang="en-US"/>
          </a:p>
        </p:txBody>
      </p:sp>
      <p:sp>
        <p:nvSpPr>
          <p:cNvPr id="3" name="Shape 1"/>
          <p:cNvSpPr/>
          <p:nvPr/>
        </p:nvSpPr>
        <p:spPr>
          <a:xfrm>
            <a:off x="164592" y="4389120"/>
            <a:ext cx="8979408" cy="754380"/>
          </a:xfrm>
          <a:prstGeom prst="rect">
            <a:avLst/>
          </a:prstGeom>
          <a:solidFill>
            <a:srgbClr val="00B67A"/>
          </a:solidFill>
          <a:ln w="12700">
            <a:solidFill>
              <a:srgbClr val="00B67A"/>
            </a:solidFill>
            <a:prstDash val="solid"/>
          </a:ln>
        </p:spPr>
        <p:txBody>
          <a:bodyPr/>
          <a:lstStyle/>
          <a:p>
            <a:endParaRPr lang="en-US"/>
          </a:p>
        </p:txBody>
      </p:sp>
      <p:sp>
        <p:nvSpPr>
          <p:cNvPr id="4" name="Text 2"/>
          <p:cNvSpPr/>
          <p:nvPr/>
        </p:nvSpPr>
        <p:spPr>
          <a:xfrm>
            <a:off x="411480" y="1097280"/>
            <a:ext cx="82296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Shape 3"/>
          <p:cNvSpPr/>
          <p:nvPr/>
        </p:nvSpPr>
        <p:spPr>
          <a:xfrm>
            <a:off x="411480" y="2103120"/>
            <a:ext cx="3200400" cy="45720"/>
          </a:xfrm>
          <a:prstGeom prst="rect">
            <a:avLst/>
          </a:prstGeom>
          <a:solidFill>
            <a:srgbClr val="00B67A"/>
          </a:solidFill>
          <a:ln w="12700">
            <a:solidFill>
              <a:srgbClr val="00B67A"/>
            </a:solidFill>
            <a:prstDash val="solid"/>
          </a:ln>
        </p:spPr>
        <p:txBody>
          <a:bodyPr/>
          <a:lstStyle/>
          <a:p>
            <a:endParaRPr lang="en-US"/>
          </a:p>
        </p:txBody>
      </p:sp>
      <p:sp>
        <p:nvSpPr>
          <p:cNvPr id="6" name="Text 4"/>
          <p:cNvSpPr/>
          <p:nvPr/>
        </p:nvSpPr>
        <p:spPr>
          <a:xfrm>
            <a:off x="411480" y="2286000"/>
            <a:ext cx="8229600" cy="411480"/>
          </a:xfrm>
          <a:prstGeom prst="rect">
            <a:avLst/>
          </a:prstGeom>
          <a:noFill/>
          <a:ln/>
        </p:spPr>
        <p:txBody>
          <a:bodyPr wrap="square" rtlCol="0" anchor="ctr"/>
          <a:lstStyle/>
          <a:p>
            <a:pPr marL="0" indent="0">
              <a:buNone/>
            </a:pPr>
            <a:r>
              <a:rPr lang="en-US" sz="1800" b="1" dirty="0">
                <a:solidFill>
                  <a:srgbClr val="00B67A"/>
                </a:solidFill>
                <a:latin typeface="Calibri" pitchFamily="34" charset="0"/>
                <a:ea typeface="Calibri" pitchFamily="34" charset="-122"/>
                <a:cs typeface="Calibri" pitchFamily="34" charset="-120"/>
              </a:rPr>
              <a:t>Tushar </a:t>
            </a:r>
            <a:r>
              <a:rPr lang="en-US" b="1" dirty="0">
                <a:solidFill>
                  <a:srgbClr val="00B67A"/>
                </a:solidFill>
                <a:latin typeface="Calibri" pitchFamily="34" charset="0"/>
                <a:ea typeface="Calibri" pitchFamily="34" charset="-122"/>
                <a:cs typeface="Calibri" pitchFamily="34" charset="-120"/>
              </a:rPr>
              <a:t>Kumar</a:t>
            </a:r>
            <a:endParaRPr lang="en-US" sz="1800" dirty="0"/>
          </a:p>
        </p:txBody>
      </p:sp>
      <p:sp>
        <p:nvSpPr>
          <p:cNvPr id="7" name="Text 5"/>
          <p:cNvSpPr/>
          <p:nvPr/>
        </p:nvSpPr>
        <p:spPr>
          <a:xfrm>
            <a:off x="411480" y="2724912"/>
            <a:ext cx="8229600" cy="320040"/>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Business Data Analyst Portfolio  -  Back Market Project</a:t>
            </a:r>
            <a:endParaRPr lang="en-US" sz="1300" dirty="0"/>
          </a:p>
        </p:txBody>
      </p:sp>
      <p:sp>
        <p:nvSpPr>
          <p:cNvPr id="8" name="Shape 6"/>
          <p:cNvSpPr/>
          <p:nvPr/>
        </p:nvSpPr>
        <p:spPr>
          <a:xfrm>
            <a:off x="457200" y="3246120"/>
            <a:ext cx="128016" cy="128016"/>
          </a:xfrm>
          <a:prstGeom prst="ellipse">
            <a:avLst/>
          </a:prstGeom>
          <a:solidFill>
            <a:srgbClr val="00B67A"/>
          </a:solidFill>
          <a:ln w="12700">
            <a:solidFill>
              <a:srgbClr val="00B67A"/>
            </a:solidFill>
            <a:prstDash val="solid"/>
          </a:ln>
        </p:spPr>
        <p:txBody>
          <a:bodyPr/>
          <a:lstStyle/>
          <a:p>
            <a:endParaRPr lang="en-US"/>
          </a:p>
        </p:txBody>
      </p:sp>
      <p:sp>
        <p:nvSpPr>
          <p:cNvPr id="9" name="Text 7"/>
          <p:cNvSpPr/>
          <p:nvPr/>
        </p:nvSpPr>
        <p:spPr>
          <a:xfrm>
            <a:off x="685800" y="319125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5 SQL queries answering real marketplace business questions</a:t>
            </a:r>
            <a:endParaRPr lang="en-US" sz="1200" dirty="0"/>
          </a:p>
        </p:txBody>
      </p:sp>
      <p:sp>
        <p:nvSpPr>
          <p:cNvPr id="10" name="Shape 8"/>
          <p:cNvSpPr/>
          <p:nvPr/>
        </p:nvSpPr>
        <p:spPr>
          <a:xfrm>
            <a:off x="457200" y="3520440"/>
            <a:ext cx="128016" cy="128016"/>
          </a:xfrm>
          <a:prstGeom prst="ellipse">
            <a:avLst/>
          </a:prstGeom>
          <a:solidFill>
            <a:srgbClr val="00B67A"/>
          </a:solidFill>
          <a:ln w="12700">
            <a:solidFill>
              <a:srgbClr val="00B67A"/>
            </a:solidFill>
            <a:prstDash val="solid"/>
          </a:ln>
        </p:spPr>
        <p:txBody>
          <a:bodyPr/>
          <a:lstStyle/>
          <a:p>
            <a:endParaRPr lang="en-US"/>
          </a:p>
        </p:txBody>
      </p:sp>
      <p:sp>
        <p:nvSpPr>
          <p:cNvPr id="11" name="Text 9"/>
          <p:cNvSpPr/>
          <p:nvPr/>
        </p:nvSpPr>
        <p:spPr>
          <a:xfrm>
            <a:off x="685800" y="346557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Excel analysis with formulas, conditional formatting, and cross-query insights</a:t>
            </a:r>
            <a:endParaRPr lang="en-US" sz="1200" dirty="0"/>
          </a:p>
        </p:txBody>
      </p:sp>
      <p:sp>
        <p:nvSpPr>
          <p:cNvPr id="12" name="Shape 10"/>
          <p:cNvSpPr/>
          <p:nvPr/>
        </p:nvSpPr>
        <p:spPr>
          <a:xfrm>
            <a:off x="457200" y="3794760"/>
            <a:ext cx="128016" cy="128016"/>
          </a:xfrm>
          <a:prstGeom prst="ellipse">
            <a:avLst/>
          </a:prstGeom>
          <a:solidFill>
            <a:srgbClr val="00B67A"/>
          </a:solidFill>
          <a:ln w="12700">
            <a:solidFill>
              <a:srgbClr val="00B67A"/>
            </a:solidFill>
            <a:prstDash val="solid"/>
          </a:ln>
        </p:spPr>
        <p:txBody>
          <a:bodyPr/>
          <a:lstStyle/>
          <a:p>
            <a:endParaRPr lang="en-US"/>
          </a:p>
        </p:txBody>
      </p:sp>
      <p:sp>
        <p:nvSpPr>
          <p:cNvPr id="13" name="Text 11"/>
          <p:cNvSpPr/>
          <p:nvPr/>
        </p:nvSpPr>
        <p:spPr>
          <a:xfrm>
            <a:off x="685800" y="373989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4-page Power BI dashboard with KPIs, charts, and geographic analysis</a:t>
            </a:r>
            <a:endParaRPr lang="en-US" sz="1200" dirty="0"/>
          </a:p>
        </p:txBody>
      </p:sp>
      <p:sp>
        <p:nvSpPr>
          <p:cNvPr id="14" name="Shape 12"/>
          <p:cNvSpPr/>
          <p:nvPr/>
        </p:nvSpPr>
        <p:spPr>
          <a:xfrm>
            <a:off x="457200" y="4069080"/>
            <a:ext cx="128016" cy="128016"/>
          </a:xfrm>
          <a:prstGeom prst="ellipse">
            <a:avLst/>
          </a:prstGeom>
          <a:solidFill>
            <a:srgbClr val="00B67A"/>
          </a:solidFill>
          <a:ln w="12700">
            <a:solidFill>
              <a:srgbClr val="00B67A"/>
            </a:solidFill>
            <a:prstDash val="solid"/>
          </a:ln>
        </p:spPr>
        <p:txBody>
          <a:bodyPr/>
          <a:lstStyle/>
          <a:p>
            <a:endParaRPr lang="en-US"/>
          </a:p>
        </p:txBody>
      </p:sp>
      <p:sp>
        <p:nvSpPr>
          <p:cNvPr id="15" name="Text 13"/>
          <p:cNvSpPr/>
          <p:nvPr/>
        </p:nvSpPr>
        <p:spPr>
          <a:xfrm>
            <a:off x="685800" y="401421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Executive presentation structured around insight → implication → recommendation</a:t>
            </a:r>
            <a:endParaRPr lang="en-US" sz="1200" dirty="0"/>
          </a:p>
        </p:txBody>
      </p:sp>
      <p:sp>
        <p:nvSpPr>
          <p:cNvPr id="16" name="Text 14"/>
          <p:cNvSpPr/>
          <p:nvPr/>
        </p:nvSpPr>
        <p:spPr>
          <a:xfrm>
            <a:off x="164592" y="4389120"/>
            <a:ext cx="8979408" cy="7543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Built with PostgreSQL  |  Excel  |  Power BI  |  PowerPoint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1132</Words>
  <Application>Microsoft Office PowerPoint</Application>
  <PresentationFormat>On-screen Show (16:9)</PresentationFormat>
  <Paragraphs>182</Paragraphs>
  <Slides>15</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 Market — Marketplace Analysis</dc:title>
  <dc:subject>PptxGenJS Presentation</dc:subject>
  <dc:creator>Tushar Manjunath</dc:creator>
  <cp:lastModifiedBy>Tushar Kumar</cp:lastModifiedBy>
  <cp:revision>2</cp:revision>
  <dcterms:created xsi:type="dcterms:W3CDTF">2026-04-13T16:55:00Z</dcterms:created>
  <dcterms:modified xsi:type="dcterms:W3CDTF">2026-04-14T13:18:11Z</dcterms:modified>
</cp:coreProperties>
</file>